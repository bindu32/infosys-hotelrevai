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Poppins" panose="00000500000000000000" pitchFamily="2" charset="0"/>
      <p:regular r:id="rId19"/>
    </p:embeddedFont>
    <p:embeddedFont>
      <p:font typeface="Poppins Bold" panose="020B0604020202020204" charset="0"/>
      <p:regular r:id="rId20"/>
    </p:embeddedFont>
    <p:embeddedFont>
      <p:font typeface="Poppins Semi-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3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95860"/>
            <a:ext cx="2165210" cy="2165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24389" y="3785185"/>
            <a:ext cx="3381801" cy="338180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11305" y="2999951"/>
            <a:ext cx="1570469" cy="157046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08C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779867" y="6816841"/>
            <a:ext cx="6464046" cy="6464046"/>
            <a:chOff x="0" y="0"/>
            <a:chExt cx="8618728" cy="861872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4684180" y="-3232023"/>
            <a:ext cx="6464046" cy="6464046"/>
            <a:chOff x="0" y="0"/>
            <a:chExt cx="8618728" cy="8618728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7153853" y="5334098"/>
            <a:ext cx="3994373" cy="1482743"/>
            <a:chOff x="0" y="0"/>
            <a:chExt cx="16432327" cy="6099810"/>
          </a:xfrm>
        </p:grpSpPr>
        <p:sp>
          <p:nvSpPr>
            <p:cNvPr id="26" name="Freeform 26"/>
            <p:cNvSpPr/>
            <p:nvPr/>
          </p:nvSpPr>
          <p:spPr>
            <a:xfrm>
              <a:off x="157670" y="1995627"/>
              <a:ext cx="16128036" cy="2420803"/>
            </a:xfrm>
            <a:custGeom>
              <a:avLst/>
              <a:gdLst/>
              <a:ahLst/>
              <a:cxnLst/>
              <a:rect l="l" t="t" r="r" b="b"/>
              <a:pathLst>
                <a:path w="16128036" h="2420803">
                  <a:moveTo>
                    <a:pt x="16124797" y="2238553"/>
                  </a:moveTo>
                  <a:cubicBezTo>
                    <a:pt x="16113366" y="2382063"/>
                    <a:pt x="15149438" y="2313483"/>
                    <a:pt x="14979257" y="2340153"/>
                  </a:cubicBezTo>
                  <a:cubicBezTo>
                    <a:pt x="13387947" y="2379523"/>
                    <a:pt x="1711770" y="2441753"/>
                    <a:pt x="120460" y="2413813"/>
                  </a:cubicBezTo>
                  <a:cubicBezTo>
                    <a:pt x="-61150" y="2407463"/>
                    <a:pt x="20130" y="2077263"/>
                    <a:pt x="7430" y="1950263"/>
                  </a:cubicBezTo>
                  <a:cubicBezTo>
                    <a:pt x="21400" y="1261923"/>
                    <a:pt x="-40830" y="816153"/>
                    <a:pt x="64580" y="132893"/>
                  </a:cubicBezTo>
                  <a:cubicBezTo>
                    <a:pt x="79820" y="-15697"/>
                    <a:pt x="197930" y="-2997"/>
                    <a:pt x="312230" y="3353"/>
                  </a:cubicBezTo>
                  <a:cubicBezTo>
                    <a:pt x="2190560" y="102413"/>
                    <a:pt x="14171536" y="-118567"/>
                    <a:pt x="16035897" y="151943"/>
                  </a:cubicBezTo>
                  <a:cubicBezTo>
                    <a:pt x="16159088" y="181153"/>
                    <a:pt x="16101938" y="356413"/>
                    <a:pt x="16122257" y="452933"/>
                  </a:cubicBezTo>
                  <a:cubicBezTo>
                    <a:pt x="16126066" y="902513"/>
                    <a:pt x="16132416" y="1103173"/>
                    <a:pt x="16123527" y="1552753"/>
                  </a:cubicBezTo>
                  <a:cubicBezTo>
                    <a:pt x="16107016" y="1763573"/>
                    <a:pt x="16150197" y="2004873"/>
                    <a:pt x="16080347" y="2199183"/>
                  </a:cubicBezTo>
                  <a:cubicBezTo>
                    <a:pt x="16019388" y="1678483"/>
                    <a:pt x="16053677" y="1127303"/>
                    <a:pt x="16065107" y="850443"/>
                  </a:cubicBezTo>
                  <a:cubicBezTo>
                    <a:pt x="16048597" y="209093"/>
                    <a:pt x="16264497" y="188773"/>
                    <a:pt x="15737447" y="160833"/>
                  </a:cubicBezTo>
                  <a:cubicBezTo>
                    <a:pt x="13936588" y="4623"/>
                    <a:pt x="2030540" y="261163"/>
                    <a:pt x="233490" y="66853"/>
                  </a:cubicBezTo>
                  <a:cubicBezTo>
                    <a:pt x="-5270" y="-33477"/>
                    <a:pt x="109030" y="1439723"/>
                    <a:pt x="72200" y="1656893"/>
                  </a:cubicBezTo>
                  <a:cubicBezTo>
                    <a:pt x="86170" y="1762303"/>
                    <a:pt x="9970" y="2361743"/>
                    <a:pt x="111570" y="2351583"/>
                  </a:cubicBezTo>
                  <a:cubicBezTo>
                    <a:pt x="2086420" y="2378253"/>
                    <a:pt x="14149947" y="2286813"/>
                    <a:pt x="16124797" y="2238553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1682252" y="5862958"/>
            <a:ext cx="2081689" cy="69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KAGGLE DATASET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896328" y="2983711"/>
            <a:ext cx="11114701" cy="375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14"/>
              </a:lnSpc>
            </a:pPr>
            <a:r>
              <a:rPr lang="en-US" sz="8902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AI-Driven Hotel Revenue Analytics </a:t>
            </a:r>
          </a:p>
          <a:p>
            <a:pPr algn="l">
              <a:lnSpc>
                <a:spcPts val="9614"/>
              </a:lnSpc>
            </a:pPr>
            <a:endParaRPr lang="en-US" sz="8902" b="1">
              <a:solidFill>
                <a:srgbClr val="02044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4889063" y="5169549"/>
            <a:ext cx="1714857" cy="1647292"/>
            <a:chOff x="0" y="0"/>
            <a:chExt cx="6350000" cy="6099810"/>
          </a:xfrm>
        </p:grpSpPr>
        <p:sp>
          <p:nvSpPr>
            <p:cNvPr id="30" name="Freeform 30"/>
            <p:cNvSpPr/>
            <p:nvPr/>
          </p:nvSpPr>
          <p:spPr>
            <a:xfrm>
              <a:off x="157670" y="1995627"/>
              <a:ext cx="6045710" cy="2420803"/>
            </a:xfrm>
            <a:custGeom>
              <a:avLst/>
              <a:gdLst/>
              <a:ahLst/>
              <a:cxnLst/>
              <a:rect l="l" t="t" r="r" b="b"/>
              <a:pathLst>
                <a:path w="6045710" h="2420803">
                  <a:moveTo>
                    <a:pt x="6042470" y="2238553"/>
                  </a:moveTo>
                  <a:cubicBezTo>
                    <a:pt x="6031040" y="2382063"/>
                    <a:pt x="5067110" y="2313483"/>
                    <a:pt x="4896930" y="2340153"/>
                  </a:cubicBezTo>
                  <a:cubicBezTo>
                    <a:pt x="3305620" y="2379523"/>
                    <a:pt x="1711770" y="2441753"/>
                    <a:pt x="120460" y="2413813"/>
                  </a:cubicBezTo>
                  <a:cubicBezTo>
                    <a:pt x="-61150" y="2407463"/>
                    <a:pt x="20130" y="2077263"/>
                    <a:pt x="7430" y="1950263"/>
                  </a:cubicBezTo>
                  <a:cubicBezTo>
                    <a:pt x="21400" y="1261923"/>
                    <a:pt x="-40830" y="816153"/>
                    <a:pt x="64580" y="132893"/>
                  </a:cubicBezTo>
                  <a:cubicBezTo>
                    <a:pt x="79820" y="-15697"/>
                    <a:pt x="197930" y="-2997"/>
                    <a:pt x="312230" y="3353"/>
                  </a:cubicBezTo>
                  <a:cubicBezTo>
                    <a:pt x="2190560" y="102413"/>
                    <a:pt x="4089210" y="-118567"/>
                    <a:pt x="5953570" y="151943"/>
                  </a:cubicBezTo>
                  <a:cubicBezTo>
                    <a:pt x="6076760" y="181153"/>
                    <a:pt x="6019610" y="356413"/>
                    <a:pt x="6039930" y="452933"/>
                  </a:cubicBezTo>
                  <a:cubicBezTo>
                    <a:pt x="6043740" y="902513"/>
                    <a:pt x="6050090" y="1103173"/>
                    <a:pt x="6041200" y="1552753"/>
                  </a:cubicBezTo>
                  <a:cubicBezTo>
                    <a:pt x="6024690" y="1763573"/>
                    <a:pt x="6067870" y="2004873"/>
                    <a:pt x="5998020" y="2199183"/>
                  </a:cubicBezTo>
                  <a:cubicBezTo>
                    <a:pt x="5937060" y="1678483"/>
                    <a:pt x="5971350" y="1127303"/>
                    <a:pt x="5982780" y="850443"/>
                  </a:cubicBezTo>
                  <a:cubicBezTo>
                    <a:pt x="5966270" y="209093"/>
                    <a:pt x="6182170" y="188773"/>
                    <a:pt x="5655120" y="160833"/>
                  </a:cubicBezTo>
                  <a:cubicBezTo>
                    <a:pt x="3854260" y="4623"/>
                    <a:pt x="2030540" y="261163"/>
                    <a:pt x="233490" y="66853"/>
                  </a:cubicBezTo>
                  <a:cubicBezTo>
                    <a:pt x="-5270" y="-33477"/>
                    <a:pt x="109030" y="1439723"/>
                    <a:pt x="72200" y="1656893"/>
                  </a:cubicBezTo>
                  <a:cubicBezTo>
                    <a:pt x="86170" y="1762303"/>
                    <a:pt x="9970" y="2361743"/>
                    <a:pt x="111570" y="2351583"/>
                  </a:cubicBezTo>
                  <a:cubicBezTo>
                    <a:pt x="2086420" y="2378253"/>
                    <a:pt x="4067620" y="2286813"/>
                    <a:pt x="6042470" y="2238553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1336315" y="5251824"/>
            <a:ext cx="2666281" cy="1482743"/>
            <a:chOff x="0" y="0"/>
            <a:chExt cx="10968729" cy="6099810"/>
          </a:xfrm>
        </p:grpSpPr>
        <p:sp>
          <p:nvSpPr>
            <p:cNvPr id="32" name="Freeform 32"/>
            <p:cNvSpPr/>
            <p:nvPr/>
          </p:nvSpPr>
          <p:spPr>
            <a:xfrm>
              <a:off x="157670" y="1995627"/>
              <a:ext cx="10664439" cy="2420803"/>
            </a:xfrm>
            <a:custGeom>
              <a:avLst/>
              <a:gdLst/>
              <a:ahLst/>
              <a:cxnLst/>
              <a:rect l="l" t="t" r="r" b="b"/>
              <a:pathLst>
                <a:path w="10664439" h="2420803">
                  <a:moveTo>
                    <a:pt x="10661200" y="2238553"/>
                  </a:moveTo>
                  <a:cubicBezTo>
                    <a:pt x="10649770" y="2382063"/>
                    <a:pt x="9685840" y="2313483"/>
                    <a:pt x="9515660" y="2340153"/>
                  </a:cubicBezTo>
                  <a:cubicBezTo>
                    <a:pt x="7924350" y="2379523"/>
                    <a:pt x="1711770" y="2441753"/>
                    <a:pt x="120460" y="2413813"/>
                  </a:cubicBezTo>
                  <a:cubicBezTo>
                    <a:pt x="-61150" y="2407463"/>
                    <a:pt x="20130" y="2077263"/>
                    <a:pt x="7430" y="1950263"/>
                  </a:cubicBezTo>
                  <a:cubicBezTo>
                    <a:pt x="21400" y="1261923"/>
                    <a:pt x="-40830" y="816153"/>
                    <a:pt x="64580" y="132893"/>
                  </a:cubicBezTo>
                  <a:cubicBezTo>
                    <a:pt x="79820" y="-15697"/>
                    <a:pt x="197930" y="-2997"/>
                    <a:pt x="312230" y="3353"/>
                  </a:cubicBezTo>
                  <a:cubicBezTo>
                    <a:pt x="2190560" y="102413"/>
                    <a:pt x="8707939" y="-118567"/>
                    <a:pt x="10572300" y="151943"/>
                  </a:cubicBezTo>
                  <a:cubicBezTo>
                    <a:pt x="10695490" y="181153"/>
                    <a:pt x="10638340" y="356413"/>
                    <a:pt x="10658660" y="452933"/>
                  </a:cubicBezTo>
                  <a:cubicBezTo>
                    <a:pt x="10662470" y="902513"/>
                    <a:pt x="10668820" y="1103173"/>
                    <a:pt x="10659930" y="1552753"/>
                  </a:cubicBezTo>
                  <a:cubicBezTo>
                    <a:pt x="10643420" y="1763573"/>
                    <a:pt x="10686600" y="2004873"/>
                    <a:pt x="10616750" y="2199183"/>
                  </a:cubicBezTo>
                  <a:cubicBezTo>
                    <a:pt x="10555790" y="1678483"/>
                    <a:pt x="10590080" y="1127303"/>
                    <a:pt x="10601510" y="850443"/>
                  </a:cubicBezTo>
                  <a:cubicBezTo>
                    <a:pt x="10585000" y="209093"/>
                    <a:pt x="10800900" y="188773"/>
                    <a:pt x="10273850" y="160833"/>
                  </a:cubicBezTo>
                  <a:cubicBezTo>
                    <a:pt x="8472990" y="4623"/>
                    <a:pt x="2030540" y="261163"/>
                    <a:pt x="233490" y="66853"/>
                  </a:cubicBezTo>
                  <a:cubicBezTo>
                    <a:pt x="-5270" y="-33477"/>
                    <a:pt x="109030" y="1439723"/>
                    <a:pt x="72200" y="1656893"/>
                  </a:cubicBezTo>
                  <a:cubicBezTo>
                    <a:pt x="86170" y="1762303"/>
                    <a:pt x="9970" y="2361743"/>
                    <a:pt x="111570" y="2351583"/>
                  </a:cubicBezTo>
                  <a:cubicBezTo>
                    <a:pt x="2086420" y="2378253"/>
                    <a:pt x="8686350" y="2286813"/>
                    <a:pt x="10661200" y="2238553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4374071" y="5920108"/>
            <a:ext cx="6464046" cy="6464046"/>
            <a:chOff x="0" y="0"/>
            <a:chExt cx="8618728" cy="8618728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sp>
        <p:nvSpPr>
          <p:cNvPr id="40" name="Freeform 40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8" b="-8547"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5132848" y="5862958"/>
            <a:ext cx="1153716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POWER BI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327768" y="5862958"/>
            <a:ext cx="3632465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PYTHON (MACHINE LEARNING)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4002596" y="-3464095"/>
            <a:ext cx="6464046" cy="6464046"/>
            <a:chOff x="0" y="0"/>
            <a:chExt cx="8618728" cy="8618728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15568399" y="-1922973"/>
            <a:ext cx="3381801" cy="3381801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91600" y="723129"/>
            <a:ext cx="5172670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Meet  the Team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302273" y="-913576"/>
            <a:ext cx="4158097" cy="415809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A5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841549" y="-5061510"/>
            <a:ext cx="7121417" cy="7319694"/>
            <a:chOff x="0" y="0"/>
            <a:chExt cx="9495223" cy="9759592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495223" cy="9759592"/>
              <a:chOff x="0" y="0"/>
              <a:chExt cx="790783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9078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812800">
                    <a:moveTo>
                      <a:pt x="395391" y="0"/>
                    </a:moveTo>
                    <a:cubicBezTo>
                      <a:pt x="177023" y="0"/>
                      <a:pt x="0" y="181951"/>
                      <a:pt x="0" y="406400"/>
                    </a:cubicBezTo>
                    <a:cubicBezTo>
                      <a:pt x="0" y="630849"/>
                      <a:pt x="177023" y="812800"/>
                      <a:pt x="395391" y="812800"/>
                    </a:cubicBezTo>
                    <a:cubicBezTo>
                      <a:pt x="613760" y="812800"/>
                      <a:pt x="790783" y="630849"/>
                      <a:pt x="790783" y="406400"/>
                    </a:cubicBezTo>
                    <a:cubicBezTo>
                      <a:pt x="790783" y="181951"/>
                      <a:pt x="613760" y="0"/>
                      <a:pt x="395391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4136" y="-28575"/>
                <a:ext cx="642511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9495223" cy="9759592"/>
              <a:chOff x="0" y="0"/>
              <a:chExt cx="790783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9078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812800">
                    <a:moveTo>
                      <a:pt x="395391" y="0"/>
                    </a:moveTo>
                    <a:cubicBezTo>
                      <a:pt x="177023" y="0"/>
                      <a:pt x="0" y="181951"/>
                      <a:pt x="0" y="406400"/>
                    </a:cubicBezTo>
                    <a:cubicBezTo>
                      <a:pt x="0" y="630849"/>
                      <a:pt x="177023" y="812800"/>
                      <a:pt x="395391" y="812800"/>
                    </a:cubicBezTo>
                    <a:cubicBezTo>
                      <a:pt x="613760" y="812800"/>
                      <a:pt x="790783" y="630849"/>
                      <a:pt x="790783" y="406400"/>
                    </a:cubicBezTo>
                    <a:cubicBezTo>
                      <a:pt x="790783" y="181951"/>
                      <a:pt x="613760" y="0"/>
                      <a:pt x="395391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4136" y="-28575"/>
                <a:ext cx="642511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 rot="1565817">
            <a:off x="3403117" y="-2689017"/>
            <a:ext cx="10366134" cy="13557166"/>
            <a:chOff x="0" y="0"/>
            <a:chExt cx="4880610" cy="63830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54F6">
                    <a:alpha val="10000"/>
                  </a:srgbClr>
                </a:gs>
                <a:gs pos="100000">
                  <a:srgbClr val="FEDAF3">
                    <a:alpha val="1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143743" y="7869695"/>
            <a:ext cx="2451820" cy="245182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98104" y="6163417"/>
            <a:ext cx="4158097" cy="4158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A5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781023" y="8242466"/>
            <a:ext cx="1257997" cy="1135975"/>
            <a:chOff x="0" y="0"/>
            <a:chExt cx="900108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0108" cy="812800"/>
            </a:xfrm>
            <a:custGeom>
              <a:avLst/>
              <a:gdLst/>
              <a:ahLst/>
              <a:cxnLst/>
              <a:rect l="l" t="t" r="r" b="b"/>
              <a:pathLst>
                <a:path w="900108" h="812800">
                  <a:moveTo>
                    <a:pt x="450054" y="0"/>
                  </a:moveTo>
                  <a:cubicBezTo>
                    <a:pt x="201496" y="0"/>
                    <a:pt x="0" y="181951"/>
                    <a:pt x="0" y="406400"/>
                  </a:cubicBezTo>
                  <a:cubicBezTo>
                    <a:pt x="0" y="630849"/>
                    <a:pt x="201496" y="812800"/>
                    <a:pt x="450054" y="812800"/>
                  </a:cubicBezTo>
                  <a:cubicBezTo>
                    <a:pt x="698612" y="812800"/>
                    <a:pt x="900108" y="630849"/>
                    <a:pt x="900108" y="406400"/>
                  </a:cubicBezTo>
                  <a:cubicBezTo>
                    <a:pt x="900108" y="181951"/>
                    <a:pt x="698612" y="0"/>
                    <a:pt x="450054" y="0"/>
                  </a:cubicBezTo>
                  <a:close/>
                </a:path>
              </a:pathLst>
            </a:custGeom>
            <a:solidFill>
              <a:srgbClr val="C1A5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84385" y="-104775"/>
              <a:ext cx="731337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80944" y="3244521"/>
            <a:ext cx="2682322" cy="3563365"/>
            <a:chOff x="0" y="0"/>
            <a:chExt cx="3576429" cy="4751153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3576429" cy="4751153"/>
              <a:chOff x="0" y="0"/>
              <a:chExt cx="270839" cy="35979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70839" cy="359799"/>
              </a:xfrm>
              <a:custGeom>
                <a:avLst/>
                <a:gdLst/>
                <a:ahLst/>
                <a:cxnLst/>
                <a:rect l="l" t="t" r="r" b="b"/>
                <a:pathLst>
                  <a:path w="270839" h="359799">
                    <a:moveTo>
                      <a:pt x="135419" y="0"/>
                    </a:moveTo>
                    <a:lnTo>
                      <a:pt x="135419" y="0"/>
                    </a:lnTo>
                    <a:cubicBezTo>
                      <a:pt x="210209" y="0"/>
                      <a:pt x="270839" y="60629"/>
                      <a:pt x="270839" y="135419"/>
                    </a:cubicBezTo>
                    <a:lnTo>
                      <a:pt x="270839" y="224380"/>
                    </a:lnTo>
                    <a:cubicBezTo>
                      <a:pt x="270839" y="299170"/>
                      <a:pt x="210209" y="359799"/>
                      <a:pt x="135419" y="359799"/>
                    </a:cubicBezTo>
                    <a:lnTo>
                      <a:pt x="135419" y="359799"/>
                    </a:lnTo>
                    <a:cubicBezTo>
                      <a:pt x="60629" y="359799"/>
                      <a:pt x="0" y="299170"/>
                      <a:pt x="0" y="224380"/>
                    </a:cubicBezTo>
                    <a:lnTo>
                      <a:pt x="0" y="135419"/>
                    </a:lnTo>
                    <a:cubicBezTo>
                      <a:pt x="0" y="60629"/>
                      <a:pt x="60629" y="0"/>
                      <a:pt x="135419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104775"/>
                <a:ext cx="270839" cy="464574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0"/>
              <a:ext cx="3576429" cy="4751153"/>
              <a:chOff x="0" y="0"/>
              <a:chExt cx="270839" cy="35979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70839" cy="359799"/>
              </a:xfrm>
              <a:custGeom>
                <a:avLst/>
                <a:gdLst/>
                <a:ahLst/>
                <a:cxnLst/>
                <a:rect l="l" t="t" r="r" b="b"/>
                <a:pathLst>
                  <a:path w="270839" h="359799">
                    <a:moveTo>
                      <a:pt x="135419" y="0"/>
                    </a:moveTo>
                    <a:lnTo>
                      <a:pt x="135419" y="0"/>
                    </a:lnTo>
                    <a:cubicBezTo>
                      <a:pt x="210209" y="0"/>
                      <a:pt x="270839" y="60629"/>
                      <a:pt x="270839" y="135419"/>
                    </a:cubicBezTo>
                    <a:lnTo>
                      <a:pt x="270839" y="224380"/>
                    </a:lnTo>
                    <a:cubicBezTo>
                      <a:pt x="270839" y="299170"/>
                      <a:pt x="210209" y="359799"/>
                      <a:pt x="135419" y="359799"/>
                    </a:cubicBezTo>
                    <a:lnTo>
                      <a:pt x="135419" y="359799"/>
                    </a:lnTo>
                    <a:cubicBezTo>
                      <a:pt x="60629" y="359799"/>
                      <a:pt x="0" y="299170"/>
                      <a:pt x="0" y="224380"/>
                    </a:cubicBezTo>
                    <a:lnTo>
                      <a:pt x="0" y="135419"/>
                    </a:lnTo>
                    <a:cubicBezTo>
                      <a:pt x="0" y="60629"/>
                      <a:pt x="60629" y="0"/>
                      <a:pt x="135419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104775"/>
                <a:ext cx="270839" cy="464574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4802902" y="3199122"/>
            <a:ext cx="2682322" cy="3563365"/>
            <a:chOff x="0" y="0"/>
            <a:chExt cx="270839" cy="35979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0839" cy="359799"/>
            </a:xfrm>
            <a:custGeom>
              <a:avLst/>
              <a:gdLst/>
              <a:ahLst/>
              <a:cxnLst/>
              <a:rect l="l" t="t" r="r" b="b"/>
              <a:pathLst>
                <a:path w="270839" h="359799">
                  <a:moveTo>
                    <a:pt x="135419" y="0"/>
                  </a:moveTo>
                  <a:lnTo>
                    <a:pt x="135419" y="0"/>
                  </a:lnTo>
                  <a:cubicBezTo>
                    <a:pt x="210209" y="0"/>
                    <a:pt x="270839" y="60629"/>
                    <a:pt x="270839" y="135419"/>
                  </a:cubicBezTo>
                  <a:lnTo>
                    <a:pt x="270839" y="224380"/>
                  </a:lnTo>
                  <a:cubicBezTo>
                    <a:pt x="270839" y="299170"/>
                    <a:pt x="210209" y="359799"/>
                    <a:pt x="135419" y="359799"/>
                  </a:cubicBezTo>
                  <a:lnTo>
                    <a:pt x="135419" y="359799"/>
                  </a:lnTo>
                  <a:cubicBezTo>
                    <a:pt x="60629" y="359799"/>
                    <a:pt x="0" y="299170"/>
                    <a:pt x="0" y="224380"/>
                  </a:cubicBezTo>
                  <a:lnTo>
                    <a:pt x="0" y="135419"/>
                  </a:lnTo>
                  <a:cubicBezTo>
                    <a:pt x="0" y="60629"/>
                    <a:pt x="60629" y="0"/>
                    <a:pt x="135419" y="0"/>
                  </a:cubicBezTo>
                  <a:close/>
                </a:path>
              </a:pathLst>
            </a:custGeom>
            <a:ln w="76200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104775"/>
              <a:ext cx="270839" cy="464574"/>
            </a:xfrm>
            <a:prstGeom prst="rect">
              <a:avLst/>
            </a:prstGeom>
          </p:spPr>
          <p:txBody>
            <a:bodyPr lIns="76099" tIns="76099" rIns="76099" bIns="76099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924861" y="3244521"/>
            <a:ext cx="2682322" cy="3563365"/>
            <a:chOff x="0" y="0"/>
            <a:chExt cx="270839" cy="35979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70839" cy="359799"/>
            </a:xfrm>
            <a:custGeom>
              <a:avLst/>
              <a:gdLst/>
              <a:ahLst/>
              <a:cxnLst/>
              <a:rect l="l" t="t" r="r" b="b"/>
              <a:pathLst>
                <a:path w="270839" h="359799">
                  <a:moveTo>
                    <a:pt x="135419" y="0"/>
                  </a:moveTo>
                  <a:lnTo>
                    <a:pt x="135419" y="0"/>
                  </a:lnTo>
                  <a:cubicBezTo>
                    <a:pt x="210209" y="0"/>
                    <a:pt x="270839" y="60629"/>
                    <a:pt x="270839" y="135419"/>
                  </a:cubicBezTo>
                  <a:lnTo>
                    <a:pt x="270839" y="224380"/>
                  </a:lnTo>
                  <a:cubicBezTo>
                    <a:pt x="270839" y="299170"/>
                    <a:pt x="210209" y="359799"/>
                    <a:pt x="135419" y="359799"/>
                  </a:cubicBezTo>
                  <a:lnTo>
                    <a:pt x="135419" y="359799"/>
                  </a:lnTo>
                  <a:cubicBezTo>
                    <a:pt x="60629" y="359799"/>
                    <a:pt x="0" y="299170"/>
                    <a:pt x="0" y="224380"/>
                  </a:cubicBezTo>
                  <a:lnTo>
                    <a:pt x="0" y="135419"/>
                  </a:lnTo>
                  <a:cubicBezTo>
                    <a:pt x="0" y="60629"/>
                    <a:pt x="60629" y="0"/>
                    <a:pt x="135419" y="0"/>
                  </a:cubicBezTo>
                  <a:close/>
                </a:path>
              </a:pathLst>
            </a:custGeom>
            <a:ln w="76200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104775"/>
              <a:ext cx="270839" cy="464574"/>
            </a:xfrm>
            <a:prstGeom prst="rect">
              <a:avLst/>
            </a:prstGeom>
          </p:spPr>
          <p:txBody>
            <a:bodyPr lIns="76099" tIns="76099" rIns="76099" bIns="76099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039913" y="3244521"/>
            <a:ext cx="2682322" cy="3563365"/>
            <a:chOff x="0" y="0"/>
            <a:chExt cx="270839" cy="35979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70839" cy="359799"/>
            </a:xfrm>
            <a:custGeom>
              <a:avLst/>
              <a:gdLst/>
              <a:ahLst/>
              <a:cxnLst/>
              <a:rect l="l" t="t" r="r" b="b"/>
              <a:pathLst>
                <a:path w="270839" h="359799">
                  <a:moveTo>
                    <a:pt x="135419" y="0"/>
                  </a:moveTo>
                  <a:lnTo>
                    <a:pt x="135419" y="0"/>
                  </a:lnTo>
                  <a:cubicBezTo>
                    <a:pt x="210209" y="0"/>
                    <a:pt x="270839" y="60629"/>
                    <a:pt x="270839" y="135419"/>
                  </a:cubicBezTo>
                  <a:lnTo>
                    <a:pt x="270839" y="224380"/>
                  </a:lnTo>
                  <a:cubicBezTo>
                    <a:pt x="270839" y="299170"/>
                    <a:pt x="210209" y="359799"/>
                    <a:pt x="135419" y="359799"/>
                  </a:cubicBezTo>
                  <a:lnTo>
                    <a:pt x="135419" y="359799"/>
                  </a:lnTo>
                  <a:cubicBezTo>
                    <a:pt x="60629" y="359799"/>
                    <a:pt x="0" y="299170"/>
                    <a:pt x="0" y="224380"/>
                  </a:cubicBezTo>
                  <a:lnTo>
                    <a:pt x="0" y="135419"/>
                  </a:lnTo>
                  <a:cubicBezTo>
                    <a:pt x="0" y="60629"/>
                    <a:pt x="60629" y="0"/>
                    <a:pt x="135419" y="0"/>
                  </a:cubicBezTo>
                  <a:close/>
                </a:path>
              </a:pathLst>
            </a:custGeom>
            <a:ln w="76200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104775"/>
              <a:ext cx="270839" cy="464574"/>
            </a:xfrm>
            <a:prstGeom prst="rect">
              <a:avLst/>
            </a:prstGeom>
          </p:spPr>
          <p:txBody>
            <a:bodyPr lIns="76099" tIns="76099" rIns="76099" bIns="76099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4151252" y="3244521"/>
            <a:ext cx="2839892" cy="3563365"/>
            <a:chOff x="0" y="0"/>
            <a:chExt cx="286749" cy="35979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86749" cy="359799"/>
            </a:xfrm>
            <a:custGeom>
              <a:avLst/>
              <a:gdLst/>
              <a:ahLst/>
              <a:cxnLst/>
              <a:rect l="l" t="t" r="r" b="b"/>
              <a:pathLst>
                <a:path w="286749" h="359799">
                  <a:moveTo>
                    <a:pt x="143374" y="0"/>
                  </a:moveTo>
                  <a:lnTo>
                    <a:pt x="143374" y="0"/>
                  </a:lnTo>
                  <a:cubicBezTo>
                    <a:pt x="181400" y="0"/>
                    <a:pt x="217867" y="15105"/>
                    <a:pt x="244755" y="41993"/>
                  </a:cubicBezTo>
                  <a:cubicBezTo>
                    <a:pt x="271643" y="68881"/>
                    <a:pt x="286749" y="105349"/>
                    <a:pt x="286749" y="143374"/>
                  </a:cubicBezTo>
                  <a:lnTo>
                    <a:pt x="286749" y="216425"/>
                  </a:lnTo>
                  <a:cubicBezTo>
                    <a:pt x="286749" y="254450"/>
                    <a:pt x="271643" y="290918"/>
                    <a:pt x="244755" y="317806"/>
                  </a:cubicBezTo>
                  <a:cubicBezTo>
                    <a:pt x="217867" y="344693"/>
                    <a:pt x="181400" y="359799"/>
                    <a:pt x="143374" y="359799"/>
                  </a:cubicBezTo>
                  <a:lnTo>
                    <a:pt x="143374" y="359799"/>
                  </a:lnTo>
                  <a:cubicBezTo>
                    <a:pt x="105349" y="359799"/>
                    <a:pt x="68881" y="344693"/>
                    <a:pt x="41993" y="317806"/>
                  </a:cubicBezTo>
                  <a:cubicBezTo>
                    <a:pt x="15105" y="290918"/>
                    <a:pt x="0" y="254450"/>
                    <a:pt x="0" y="216425"/>
                  </a:cubicBezTo>
                  <a:lnTo>
                    <a:pt x="0" y="143374"/>
                  </a:lnTo>
                  <a:cubicBezTo>
                    <a:pt x="0" y="105349"/>
                    <a:pt x="15105" y="68881"/>
                    <a:pt x="41993" y="41993"/>
                  </a:cubicBezTo>
                  <a:cubicBezTo>
                    <a:pt x="68881" y="15105"/>
                    <a:pt x="105349" y="0"/>
                    <a:pt x="143374" y="0"/>
                  </a:cubicBezTo>
                  <a:close/>
                </a:path>
              </a:pathLst>
            </a:custGeom>
            <a:ln w="76200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104775"/>
              <a:ext cx="286749" cy="464574"/>
            </a:xfrm>
            <a:prstGeom prst="rect">
              <a:avLst/>
            </a:prstGeom>
          </p:spPr>
          <p:txBody>
            <a:bodyPr lIns="76099" tIns="76099" rIns="76099" bIns="76099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pic>
        <p:nvPicPr>
          <p:cNvPr id="43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98" y="3188889"/>
            <a:ext cx="2093814" cy="2132303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389" y="3188889"/>
            <a:ext cx="2093814" cy="2132303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8441" y="3188889"/>
            <a:ext cx="2093814" cy="2132303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4841" y="3188889"/>
            <a:ext cx="2093814" cy="2132303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8468" y="3188889"/>
            <a:ext cx="2093814" cy="2132303"/>
          </a:xfrm>
          <a:prstGeom prst="rect">
            <a:avLst/>
          </a:prstGeom>
        </p:spPr>
      </p:pic>
      <p:sp>
        <p:nvSpPr>
          <p:cNvPr id="48" name="TextBox 48"/>
          <p:cNvSpPr txBox="1"/>
          <p:nvPr/>
        </p:nvSpPr>
        <p:spPr>
          <a:xfrm>
            <a:off x="1823244" y="5237725"/>
            <a:ext cx="2446258" cy="103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1979" dirty="0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SAMRUDDHI NAKATE</a:t>
            </a:r>
          </a:p>
          <a:p>
            <a:pPr algn="ctr">
              <a:lnSpc>
                <a:spcPts val="2771"/>
              </a:lnSpc>
            </a:pPr>
            <a:endParaRPr lang="en-US" sz="1979" dirty="0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 dirty="0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Data Modeling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46634" y="5237725"/>
            <a:ext cx="2468880" cy="103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TIRTH MADANE</a:t>
            </a:r>
          </a:p>
          <a:p>
            <a:pPr algn="ctr">
              <a:lnSpc>
                <a:spcPts val="2771"/>
              </a:lnSpc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Forecasting Module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89285" y="5237725"/>
            <a:ext cx="1772126" cy="172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PAVAN KUMAR</a:t>
            </a:r>
          </a:p>
          <a:p>
            <a:pPr algn="ctr">
              <a:lnSpc>
                <a:spcPts val="2771"/>
              </a:lnSpc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Guest Insights</a:t>
            </a:r>
          </a:p>
          <a:p>
            <a:pPr algn="ctr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Module 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802902" y="5227738"/>
            <a:ext cx="2782587" cy="1417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1979" dirty="0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M BINDU SRI </a:t>
            </a:r>
          </a:p>
          <a:p>
            <a:pPr algn="ctr">
              <a:lnSpc>
                <a:spcPts val="2771"/>
              </a:lnSpc>
            </a:pPr>
            <a:endParaRPr lang="en-US" sz="1979" dirty="0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771"/>
              </a:lnSpc>
            </a:pPr>
            <a:r>
              <a:rPr lang="en-US" sz="1979" dirty="0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Revenue optimization 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 dirty="0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Module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265160" y="5210175"/>
            <a:ext cx="2661999" cy="1378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KRISHNARJUN</a:t>
            </a:r>
          </a:p>
          <a:p>
            <a:pPr algn="ctr">
              <a:lnSpc>
                <a:spcPts val="2771"/>
              </a:lnSpc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Strategy &amp; 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Optimization Module </a:t>
            </a:r>
          </a:p>
        </p:txBody>
      </p:sp>
      <p:sp>
        <p:nvSpPr>
          <p:cNvPr id="53" name="Freeform 53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338" b="-8547"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13637997" y="8013866"/>
            <a:ext cx="2035377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Mentor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Jayashri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171333"/>
            <a:ext cx="2451820" cy="24518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08364" y="1598414"/>
            <a:ext cx="7121417" cy="7319694"/>
            <a:chOff x="0" y="0"/>
            <a:chExt cx="9495223" cy="9759592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9495223" cy="9759592"/>
              <a:chOff x="0" y="0"/>
              <a:chExt cx="790783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9078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812800">
                    <a:moveTo>
                      <a:pt x="395391" y="0"/>
                    </a:moveTo>
                    <a:cubicBezTo>
                      <a:pt x="177023" y="0"/>
                      <a:pt x="0" y="181951"/>
                      <a:pt x="0" y="406400"/>
                    </a:cubicBezTo>
                    <a:cubicBezTo>
                      <a:pt x="0" y="630849"/>
                      <a:pt x="177023" y="812800"/>
                      <a:pt x="395391" y="812800"/>
                    </a:cubicBezTo>
                    <a:cubicBezTo>
                      <a:pt x="613760" y="812800"/>
                      <a:pt x="790783" y="630849"/>
                      <a:pt x="790783" y="406400"/>
                    </a:cubicBezTo>
                    <a:cubicBezTo>
                      <a:pt x="790783" y="181951"/>
                      <a:pt x="613760" y="0"/>
                      <a:pt x="395391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4136" y="-28575"/>
                <a:ext cx="642511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9495223" cy="9759592"/>
              <a:chOff x="0" y="0"/>
              <a:chExt cx="790783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9078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812800">
                    <a:moveTo>
                      <a:pt x="395391" y="0"/>
                    </a:moveTo>
                    <a:cubicBezTo>
                      <a:pt x="177023" y="0"/>
                      <a:pt x="0" y="181951"/>
                      <a:pt x="0" y="406400"/>
                    </a:cubicBezTo>
                    <a:cubicBezTo>
                      <a:pt x="0" y="630849"/>
                      <a:pt x="177023" y="812800"/>
                      <a:pt x="395391" y="812800"/>
                    </a:cubicBezTo>
                    <a:cubicBezTo>
                      <a:pt x="613760" y="812800"/>
                      <a:pt x="790783" y="630849"/>
                      <a:pt x="790783" y="406400"/>
                    </a:cubicBezTo>
                    <a:cubicBezTo>
                      <a:pt x="790783" y="181951"/>
                      <a:pt x="613760" y="0"/>
                      <a:pt x="395391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4136" y="-28575"/>
                <a:ext cx="642511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7151429" y="7337315"/>
            <a:ext cx="1778352" cy="177835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183" y="1683963"/>
            <a:ext cx="881423" cy="699574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480520" y="3446026"/>
            <a:ext cx="5896375" cy="169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8"/>
              </a:lnSpc>
            </a:pPr>
            <a:r>
              <a:rPr lang="en-US" sz="5961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</a:t>
            </a:r>
          </a:p>
          <a:p>
            <a:pPr algn="l">
              <a:lnSpc>
                <a:spcPts val="6438"/>
              </a:lnSpc>
            </a:pPr>
            <a:r>
              <a:rPr lang="en-US" sz="5961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OVERVIEW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471" y="9763367"/>
            <a:ext cx="6388958" cy="21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020440">
                    <a:alpha val="4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lang="en-US" sz="1220" b="1">
                <a:solidFill>
                  <a:srgbClr val="020440">
                    <a:alpha val="44706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 Group 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77420" y="2340093"/>
            <a:ext cx="5072301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Interactive visualizations for key insights.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02209" y="1794082"/>
            <a:ext cx="4151127" cy="431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3"/>
              </a:lnSpc>
              <a:spcBef>
                <a:spcPct val="0"/>
              </a:spcBef>
            </a:pPr>
            <a:r>
              <a:rPr lang="en-US" sz="2559" b="1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Power BI Dashboards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32025" y="3441129"/>
            <a:ext cx="4976596" cy="430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83"/>
              </a:lnSpc>
              <a:spcBef>
                <a:spcPct val="0"/>
              </a:spcBef>
            </a:pPr>
            <a:r>
              <a:rPr lang="en-US" sz="2559" b="1" dirty="0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Performance Indicators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07167" y="4096541"/>
            <a:ext cx="5486876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Track critical metrics for hotel performance.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65308" y="5458657"/>
            <a:ext cx="4546693" cy="430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83"/>
              </a:lnSpc>
              <a:spcBef>
                <a:spcPct val="0"/>
              </a:spcBef>
            </a:pPr>
            <a:r>
              <a:rPr lang="en-US" sz="2559" b="1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Forecasting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22459" y="5940399"/>
            <a:ext cx="5486162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Predict future trends with machine learning.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42092" y="7274795"/>
            <a:ext cx="3711244" cy="430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83"/>
              </a:lnSpc>
              <a:spcBef>
                <a:spcPct val="0"/>
              </a:spcBef>
            </a:pPr>
            <a:r>
              <a:rPr lang="en-US" sz="2559" b="1" dirty="0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Clustering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31147" y="7876733"/>
            <a:ext cx="7128153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Identify valuable guest segments for targeted strategies.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40300" y="5772511"/>
            <a:ext cx="6232879" cy="172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The dashboard enables performance monitoring, pricing optimization, customer segmentation, and future demand forecasting to support data-driven strategic decisions and sustainable revenue growth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583" y="3441129"/>
            <a:ext cx="881423" cy="699574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8583" y="5288548"/>
            <a:ext cx="881423" cy="699574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8583" y="7046812"/>
            <a:ext cx="881423" cy="699574"/>
          </a:xfrm>
          <a:prstGeom prst="rect">
            <a:avLst/>
          </a:prstGeom>
        </p:spPr>
      </p:pic>
      <p:sp>
        <p:nvSpPr>
          <p:cNvPr id="30" name="Freeform 30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338" b="-8547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10412" y="-254132"/>
            <a:ext cx="2762044" cy="276204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087028">
            <a:off x="-219873" y="-2822084"/>
            <a:ext cx="14728687" cy="19262654"/>
            <a:chOff x="0" y="0"/>
            <a:chExt cx="4880610" cy="63830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solidFill>
              <a:srgbClr val="9754F6">
                <a:alpha val="9804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2421951" y="2328903"/>
            <a:ext cx="7058974" cy="1235048"/>
            <a:chOff x="0" y="0"/>
            <a:chExt cx="9411966" cy="1646731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9411966" cy="1646731"/>
              <a:chOff x="0" y="0"/>
              <a:chExt cx="3781731" cy="66165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781731" cy="661657"/>
              </a:xfrm>
              <a:custGeom>
                <a:avLst/>
                <a:gdLst/>
                <a:ahLst/>
                <a:cxnLst/>
                <a:rect l="l" t="t" r="r" b="b"/>
                <a:pathLst>
                  <a:path w="3781731" h="661657">
                    <a:moveTo>
                      <a:pt x="12032" y="0"/>
                    </a:moveTo>
                    <a:lnTo>
                      <a:pt x="3769699" y="0"/>
                    </a:lnTo>
                    <a:cubicBezTo>
                      <a:pt x="3772890" y="0"/>
                      <a:pt x="3775950" y="1268"/>
                      <a:pt x="3778207" y="3524"/>
                    </a:cubicBezTo>
                    <a:cubicBezTo>
                      <a:pt x="3780463" y="5781"/>
                      <a:pt x="3781731" y="8841"/>
                      <a:pt x="3781731" y="12032"/>
                    </a:cubicBezTo>
                    <a:lnTo>
                      <a:pt x="3781731" y="649625"/>
                    </a:lnTo>
                    <a:cubicBezTo>
                      <a:pt x="3781731" y="652816"/>
                      <a:pt x="3780463" y="655876"/>
                      <a:pt x="3778207" y="658133"/>
                    </a:cubicBezTo>
                    <a:cubicBezTo>
                      <a:pt x="3775950" y="660389"/>
                      <a:pt x="3772890" y="661657"/>
                      <a:pt x="3769699" y="661657"/>
                    </a:cubicBezTo>
                    <a:lnTo>
                      <a:pt x="12032" y="661657"/>
                    </a:lnTo>
                    <a:cubicBezTo>
                      <a:pt x="5387" y="661657"/>
                      <a:pt x="0" y="656270"/>
                      <a:pt x="0" y="649625"/>
                    </a:cubicBezTo>
                    <a:lnTo>
                      <a:pt x="0" y="12032"/>
                    </a:lnTo>
                    <a:cubicBezTo>
                      <a:pt x="0" y="8841"/>
                      <a:pt x="1268" y="5781"/>
                      <a:pt x="3524" y="3524"/>
                    </a:cubicBezTo>
                    <a:cubicBezTo>
                      <a:pt x="5781" y="1268"/>
                      <a:pt x="8841" y="0"/>
                      <a:pt x="12032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04775"/>
                <a:ext cx="3781731" cy="766432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9411966" cy="1646731"/>
              <a:chOff x="0" y="0"/>
              <a:chExt cx="3781731" cy="66165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781731" cy="661657"/>
              </a:xfrm>
              <a:custGeom>
                <a:avLst/>
                <a:gdLst/>
                <a:ahLst/>
                <a:cxnLst/>
                <a:rect l="l" t="t" r="r" b="b"/>
                <a:pathLst>
                  <a:path w="3781731" h="661657">
                    <a:moveTo>
                      <a:pt x="12032" y="0"/>
                    </a:moveTo>
                    <a:lnTo>
                      <a:pt x="3769699" y="0"/>
                    </a:lnTo>
                    <a:cubicBezTo>
                      <a:pt x="3772890" y="0"/>
                      <a:pt x="3775950" y="1268"/>
                      <a:pt x="3778207" y="3524"/>
                    </a:cubicBezTo>
                    <a:cubicBezTo>
                      <a:pt x="3780463" y="5781"/>
                      <a:pt x="3781731" y="8841"/>
                      <a:pt x="3781731" y="12032"/>
                    </a:cubicBezTo>
                    <a:lnTo>
                      <a:pt x="3781731" y="649625"/>
                    </a:lnTo>
                    <a:cubicBezTo>
                      <a:pt x="3781731" y="652816"/>
                      <a:pt x="3780463" y="655876"/>
                      <a:pt x="3778207" y="658133"/>
                    </a:cubicBezTo>
                    <a:cubicBezTo>
                      <a:pt x="3775950" y="660389"/>
                      <a:pt x="3772890" y="661657"/>
                      <a:pt x="3769699" y="661657"/>
                    </a:cubicBezTo>
                    <a:lnTo>
                      <a:pt x="12032" y="661657"/>
                    </a:lnTo>
                    <a:cubicBezTo>
                      <a:pt x="5387" y="661657"/>
                      <a:pt x="0" y="656270"/>
                      <a:pt x="0" y="649625"/>
                    </a:cubicBezTo>
                    <a:lnTo>
                      <a:pt x="0" y="12032"/>
                    </a:lnTo>
                    <a:cubicBezTo>
                      <a:pt x="0" y="8841"/>
                      <a:pt x="1268" y="5781"/>
                      <a:pt x="3524" y="3524"/>
                    </a:cubicBezTo>
                    <a:cubicBezTo>
                      <a:pt x="5781" y="1268"/>
                      <a:pt x="8841" y="0"/>
                      <a:pt x="12032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04775"/>
                <a:ext cx="3781731" cy="766432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855540" y="202107"/>
              <a:ext cx="7988655" cy="1117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8"/>
                </a:lnSpc>
              </a:pPr>
              <a:r>
                <a:rPr lang="en-US" sz="554">
                  <a:solidFill>
                    <a:srgbClr val="020440"/>
                  </a:solidFill>
                  <a:latin typeface="Poppins"/>
                  <a:ea typeface="Poppins"/>
                  <a:cs typeface="Poppins"/>
                  <a:sym typeface="Poppins"/>
                </a:rPr>
                <a:t>     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60954" y="3765593"/>
            <a:ext cx="7058974" cy="1235048"/>
            <a:chOff x="0" y="0"/>
            <a:chExt cx="9411966" cy="1646731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9411966" cy="1646731"/>
              <a:chOff x="0" y="0"/>
              <a:chExt cx="3781731" cy="66165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781731" cy="661657"/>
              </a:xfrm>
              <a:custGeom>
                <a:avLst/>
                <a:gdLst/>
                <a:ahLst/>
                <a:cxnLst/>
                <a:rect l="l" t="t" r="r" b="b"/>
                <a:pathLst>
                  <a:path w="3781731" h="661657">
                    <a:moveTo>
                      <a:pt x="12032" y="0"/>
                    </a:moveTo>
                    <a:lnTo>
                      <a:pt x="3769699" y="0"/>
                    </a:lnTo>
                    <a:cubicBezTo>
                      <a:pt x="3772890" y="0"/>
                      <a:pt x="3775950" y="1268"/>
                      <a:pt x="3778207" y="3524"/>
                    </a:cubicBezTo>
                    <a:cubicBezTo>
                      <a:pt x="3780463" y="5781"/>
                      <a:pt x="3781731" y="8841"/>
                      <a:pt x="3781731" y="12032"/>
                    </a:cubicBezTo>
                    <a:lnTo>
                      <a:pt x="3781731" y="649625"/>
                    </a:lnTo>
                    <a:cubicBezTo>
                      <a:pt x="3781731" y="652816"/>
                      <a:pt x="3780463" y="655876"/>
                      <a:pt x="3778207" y="658133"/>
                    </a:cubicBezTo>
                    <a:cubicBezTo>
                      <a:pt x="3775950" y="660389"/>
                      <a:pt x="3772890" y="661657"/>
                      <a:pt x="3769699" y="661657"/>
                    </a:cubicBezTo>
                    <a:lnTo>
                      <a:pt x="12032" y="661657"/>
                    </a:lnTo>
                    <a:cubicBezTo>
                      <a:pt x="5387" y="661657"/>
                      <a:pt x="0" y="656270"/>
                      <a:pt x="0" y="649625"/>
                    </a:cubicBezTo>
                    <a:lnTo>
                      <a:pt x="0" y="12032"/>
                    </a:lnTo>
                    <a:cubicBezTo>
                      <a:pt x="0" y="8841"/>
                      <a:pt x="1268" y="5781"/>
                      <a:pt x="3524" y="3524"/>
                    </a:cubicBezTo>
                    <a:cubicBezTo>
                      <a:pt x="5781" y="1268"/>
                      <a:pt x="8841" y="0"/>
                      <a:pt x="12032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04775"/>
                <a:ext cx="3781731" cy="766432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0"/>
              <a:ext cx="9411966" cy="1646731"/>
              <a:chOff x="0" y="0"/>
              <a:chExt cx="3781731" cy="66165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81731" cy="661657"/>
              </a:xfrm>
              <a:custGeom>
                <a:avLst/>
                <a:gdLst/>
                <a:ahLst/>
                <a:cxnLst/>
                <a:rect l="l" t="t" r="r" b="b"/>
                <a:pathLst>
                  <a:path w="3781731" h="661657">
                    <a:moveTo>
                      <a:pt x="12032" y="0"/>
                    </a:moveTo>
                    <a:lnTo>
                      <a:pt x="3769699" y="0"/>
                    </a:lnTo>
                    <a:cubicBezTo>
                      <a:pt x="3772890" y="0"/>
                      <a:pt x="3775950" y="1268"/>
                      <a:pt x="3778207" y="3524"/>
                    </a:cubicBezTo>
                    <a:cubicBezTo>
                      <a:pt x="3780463" y="5781"/>
                      <a:pt x="3781731" y="8841"/>
                      <a:pt x="3781731" y="12032"/>
                    </a:cubicBezTo>
                    <a:lnTo>
                      <a:pt x="3781731" y="649625"/>
                    </a:lnTo>
                    <a:cubicBezTo>
                      <a:pt x="3781731" y="652816"/>
                      <a:pt x="3780463" y="655876"/>
                      <a:pt x="3778207" y="658133"/>
                    </a:cubicBezTo>
                    <a:cubicBezTo>
                      <a:pt x="3775950" y="660389"/>
                      <a:pt x="3772890" y="661657"/>
                      <a:pt x="3769699" y="661657"/>
                    </a:cubicBezTo>
                    <a:lnTo>
                      <a:pt x="12032" y="661657"/>
                    </a:lnTo>
                    <a:cubicBezTo>
                      <a:pt x="5387" y="661657"/>
                      <a:pt x="0" y="656270"/>
                      <a:pt x="0" y="649625"/>
                    </a:cubicBezTo>
                    <a:lnTo>
                      <a:pt x="0" y="12032"/>
                    </a:lnTo>
                    <a:cubicBezTo>
                      <a:pt x="0" y="8841"/>
                      <a:pt x="1268" y="5781"/>
                      <a:pt x="3524" y="3524"/>
                    </a:cubicBezTo>
                    <a:cubicBezTo>
                      <a:pt x="5781" y="1268"/>
                      <a:pt x="8841" y="0"/>
                      <a:pt x="12032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04775"/>
                <a:ext cx="3781731" cy="766432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55540" y="202107"/>
              <a:ext cx="7988655" cy="1117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8"/>
                </a:lnSpc>
              </a:pPr>
              <a:r>
                <a:rPr lang="en-US" sz="554">
                  <a:solidFill>
                    <a:srgbClr val="020440"/>
                  </a:solidFill>
                  <a:latin typeface="Poppins"/>
                  <a:ea typeface="Poppins"/>
                  <a:cs typeface="Poppins"/>
                  <a:sym typeface="Poppins"/>
                </a:rPr>
                <a:t>     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600398" y="5314783"/>
            <a:ext cx="7058974" cy="1235048"/>
            <a:chOff x="0" y="0"/>
            <a:chExt cx="9411966" cy="1646731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9411966" cy="1646731"/>
              <a:chOff x="0" y="0"/>
              <a:chExt cx="3781731" cy="66165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781731" cy="661657"/>
              </a:xfrm>
              <a:custGeom>
                <a:avLst/>
                <a:gdLst/>
                <a:ahLst/>
                <a:cxnLst/>
                <a:rect l="l" t="t" r="r" b="b"/>
                <a:pathLst>
                  <a:path w="3781731" h="661657">
                    <a:moveTo>
                      <a:pt x="12032" y="0"/>
                    </a:moveTo>
                    <a:lnTo>
                      <a:pt x="3769699" y="0"/>
                    </a:lnTo>
                    <a:cubicBezTo>
                      <a:pt x="3772890" y="0"/>
                      <a:pt x="3775950" y="1268"/>
                      <a:pt x="3778207" y="3524"/>
                    </a:cubicBezTo>
                    <a:cubicBezTo>
                      <a:pt x="3780463" y="5781"/>
                      <a:pt x="3781731" y="8841"/>
                      <a:pt x="3781731" y="12032"/>
                    </a:cubicBezTo>
                    <a:lnTo>
                      <a:pt x="3781731" y="649625"/>
                    </a:lnTo>
                    <a:cubicBezTo>
                      <a:pt x="3781731" y="652816"/>
                      <a:pt x="3780463" y="655876"/>
                      <a:pt x="3778207" y="658133"/>
                    </a:cubicBezTo>
                    <a:cubicBezTo>
                      <a:pt x="3775950" y="660389"/>
                      <a:pt x="3772890" y="661657"/>
                      <a:pt x="3769699" y="661657"/>
                    </a:cubicBezTo>
                    <a:lnTo>
                      <a:pt x="12032" y="661657"/>
                    </a:lnTo>
                    <a:cubicBezTo>
                      <a:pt x="5387" y="661657"/>
                      <a:pt x="0" y="656270"/>
                      <a:pt x="0" y="649625"/>
                    </a:cubicBezTo>
                    <a:lnTo>
                      <a:pt x="0" y="12032"/>
                    </a:lnTo>
                    <a:cubicBezTo>
                      <a:pt x="0" y="8841"/>
                      <a:pt x="1268" y="5781"/>
                      <a:pt x="3524" y="3524"/>
                    </a:cubicBezTo>
                    <a:cubicBezTo>
                      <a:pt x="5781" y="1268"/>
                      <a:pt x="8841" y="0"/>
                      <a:pt x="12032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104775"/>
                <a:ext cx="3781731" cy="766432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0"/>
              <a:ext cx="9411966" cy="1646731"/>
              <a:chOff x="0" y="0"/>
              <a:chExt cx="3781731" cy="66165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3781731" cy="661657"/>
              </a:xfrm>
              <a:custGeom>
                <a:avLst/>
                <a:gdLst/>
                <a:ahLst/>
                <a:cxnLst/>
                <a:rect l="l" t="t" r="r" b="b"/>
                <a:pathLst>
                  <a:path w="3781731" h="661657">
                    <a:moveTo>
                      <a:pt x="12032" y="0"/>
                    </a:moveTo>
                    <a:lnTo>
                      <a:pt x="3769699" y="0"/>
                    </a:lnTo>
                    <a:cubicBezTo>
                      <a:pt x="3772890" y="0"/>
                      <a:pt x="3775950" y="1268"/>
                      <a:pt x="3778207" y="3524"/>
                    </a:cubicBezTo>
                    <a:cubicBezTo>
                      <a:pt x="3780463" y="5781"/>
                      <a:pt x="3781731" y="8841"/>
                      <a:pt x="3781731" y="12032"/>
                    </a:cubicBezTo>
                    <a:lnTo>
                      <a:pt x="3781731" y="649625"/>
                    </a:lnTo>
                    <a:cubicBezTo>
                      <a:pt x="3781731" y="652816"/>
                      <a:pt x="3780463" y="655876"/>
                      <a:pt x="3778207" y="658133"/>
                    </a:cubicBezTo>
                    <a:cubicBezTo>
                      <a:pt x="3775950" y="660389"/>
                      <a:pt x="3772890" y="661657"/>
                      <a:pt x="3769699" y="661657"/>
                    </a:cubicBezTo>
                    <a:lnTo>
                      <a:pt x="12032" y="661657"/>
                    </a:lnTo>
                    <a:cubicBezTo>
                      <a:pt x="5387" y="661657"/>
                      <a:pt x="0" y="656270"/>
                      <a:pt x="0" y="649625"/>
                    </a:cubicBezTo>
                    <a:lnTo>
                      <a:pt x="0" y="12032"/>
                    </a:lnTo>
                    <a:cubicBezTo>
                      <a:pt x="0" y="8841"/>
                      <a:pt x="1268" y="5781"/>
                      <a:pt x="3524" y="3524"/>
                    </a:cubicBezTo>
                    <a:cubicBezTo>
                      <a:pt x="5781" y="1268"/>
                      <a:pt x="8841" y="0"/>
                      <a:pt x="12032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104775"/>
                <a:ext cx="3781731" cy="766432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855540" y="202107"/>
              <a:ext cx="7988655" cy="1117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8"/>
                </a:lnSpc>
              </a:pPr>
              <a:r>
                <a:rPr lang="en-US" sz="554">
                  <a:solidFill>
                    <a:srgbClr val="020440"/>
                  </a:solidFill>
                  <a:latin typeface="Poppins"/>
                  <a:ea typeface="Poppins"/>
                  <a:cs typeface="Poppins"/>
                  <a:sym typeface="Poppins"/>
                </a:rPr>
                <a:t>      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51438" y="6659218"/>
            <a:ext cx="7058974" cy="1235048"/>
            <a:chOff x="0" y="0"/>
            <a:chExt cx="9411966" cy="1646731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9411966" cy="1646731"/>
              <a:chOff x="0" y="0"/>
              <a:chExt cx="3781731" cy="66165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3781731" cy="661657"/>
              </a:xfrm>
              <a:custGeom>
                <a:avLst/>
                <a:gdLst/>
                <a:ahLst/>
                <a:cxnLst/>
                <a:rect l="l" t="t" r="r" b="b"/>
                <a:pathLst>
                  <a:path w="3781731" h="661657">
                    <a:moveTo>
                      <a:pt x="12032" y="0"/>
                    </a:moveTo>
                    <a:lnTo>
                      <a:pt x="3769699" y="0"/>
                    </a:lnTo>
                    <a:cubicBezTo>
                      <a:pt x="3772890" y="0"/>
                      <a:pt x="3775950" y="1268"/>
                      <a:pt x="3778207" y="3524"/>
                    </a:cubicBezTo>
                    <a:cubicBezTo>
                      <a:pt x="3780463" y="5781"/>
                      <a:pt x="3781731" y="8841"/>
                      <a:pt x="3781731" y="12032"/>
                    </a:cubicBezTo>
                    <a:lnTo>
                      <a:pt x="3781731" y="649625"/>
                    </a:lnTo>
                    <a:cubicBezTo>
                      <a:pt x="3781731" y="652816"/>
                      <a:pt x="3780463" y="655876"/>
                      <a:pt x="3778207" y="658133"/>
                    </a:cubicBezTo>
                    <a:cubicBezTo>
                      <a:pt x="3775950" y="660389"/>
                      <a:pt x="3772890" y="661657"/>
                      <a:pt x="3769699" y="661657"/>
                    </a:cubicBezTo>
                    <a:lnTo>
                      <a:pt x="12032" y="661657"/>
                    </a:lnTo>
                    <a:cubicBezTo>
                      <a:pt x="5387" y="661657"/>
                      <a:pt x="0" y="656270"/>
                      <a:pt x="0" y="649625"/>
                    </a:cubicBezTo>
                    <a:lnTo>
                      <a:pt x="0" y="12032"/>
                    </a:lnTo>
                    <a:cubicBezTo>
                      <a:pt x="0" y="8841"/>
                      <a:pt x="1268" y="5781"/>
                      <a:pt x="3524" y="3524"/>
                    </a:cubicBezTo>
                    <a:cubicBezTo>
                      <a:pt x="5781" y="1268"/>
                      <a:pt x="8841" y="0"/>
                      <a:pt x="12032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104775"/>
                <a:ext cx="3781731" cy="766432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0"/>
              <a:ext cx="9411966" cy="1646731"/>
              <a:chOff x="0" y="0"/>
              <a:chExt cx="3781731" cy="661657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781731" cy="661657"/>
              </a:xfrm>
              <a:custGeom>
                <a:avLst/>
                <a:gdLst/>
                <a:ahLst/>
                <a:cxnLst/>
                <a:rect l="l" t="t" r="r" b="b"/>
                <a:pathLst>
                  <a:path w="3781731" h="661657">
                    <a:moveTo>
                      <a:pt x="12032" y="0"/>
                    </a:moveTo>
                    <a:lnTo>
                      <a:pt x="3769699" y="0"/>
                    </a:lnTo>
                    <a:cubicBezTo>
                      <a:pt x="3772890" y="0"/>
                      <a:pt x="3775950" y="1268"/>
                      <a:pt x="3778207" y="3524"/>
                    </a:cubicBezTo>
                    <a:cubicBezTo>
                      <a:pt x="3780463" y="5781"/>
                      <a:pt x="3781731" y="8841"/>
                      <a:pt x="3781731" y="12032"/>
                    </a:cubicBezTo>
                    <a:lnTo>
                      <a:pt x="3781731" y="649625"/>
                    </a:lnTo>
                    <a:cubicBezTo>
                      <a:pt x="3781731" y="652816"/>
                      <a:pt x="3780463" y="655876"/>
                      <a:pt x="3778207" y="658133"/>
                    </a:cubicBezTo>
                    <a:cubicBezTo>
                      <a:pt x="3775950" y="660389"/>
                      <a:pt x="3772890" y="661657"/>
                      <a:pt x="3769699" y="661657"/>
                    </a:cubicBezTo>
                    <a:lnTo>
                      <a:pt x="12032" y="661657"/>
                    </a:lnTo>
                    <a:cubicBezTo>
                      <a:pt x="5387" y="661657"/>
                      <a:pt x="0" y="656270"/>
                      <a:pt x="0" y="649625"/>
                    </a:cubicBezTo>
                    <a:lnTo>
                      <a:pt x="0" y="12032"/>
                    </a:lnTo>
                    <a:cubicBezTo>
                      <a:pt x="0" y="8841"/>
                      <a:pt x="1268" y="5781"/>
                      <a:pt x="3524" y="3524"/>
                    </a:cubicBezTo>
                    <a:cubicBezTo>
                      <a:pt x="5781" y="1268"/>
                      <a:pt x="8841" y="0"/>
                      <a:pt x="12032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104775"/>
                <a:ext cx="3781731" cy="766432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855540" y="202107"/>
              <a:ext cx="7988655" cy="1117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8"/>
                </a:lnSpc>
              </a:pPr>
              <a:r>
                <a:rPr lang="en-US" sz="554">
                  <a:solidFill>
                    <a:srgbClr val="020440"/>
                  </a:solidFill>
                  <a:latin typeface="Poppins"/>
                  <a:ea typeface="Poppins"/>
                  <a:cs typeface="Poppins"/>
                  <a:sym typeface="Poppins"/>
                </a:rPr>
                <a:t>      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385406" y="7973668"/>
            <a:ext cx="7058974" cy="1235048"/>
            <a:chOff x="0" y="0"/>
            <a:chExt cx="9411966" cy="1646731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9411966" cy="1646731"/>
              <a:chOff x="0" y="0"/>
              <a:chExt cx="3781731" cy="661657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3781731" cy="661657"/>
              </a:xfrm>
              <a:custGeom>
                <a:avLst/>
                <a:gdLst/>
                <a:ahLst/>
                <a:cxnLst/>
                <a:rect l="l" t="t" r="r" b="b"/>
                <a:pathLst>
                  <a:path w="3781731" h="661657">
                    <a:moveTo>
                      <a:pt x="12032" y="0"/>
                    </a:moveTo>
                    <a:lnTo>
                      <a:pt x="3769699" y="0"/>
                    </a:lnTo>
                    <a:cubicBezTo>
                      <a:pt x="3772890" y="0"/>
                      <a:pt x="3775950" y="1268"/>
                      <a:pt x="3778207" y="3524"/>
                    </a:cubicBezTo>
                    <a:cubicBezTo>
                      <a:pt x="3780463" y="5781"/>
                      <a:pt x="3781731" y="8841"/>
                      <a:pt x="3781731" y="12032"/>
                    </a:cubicBezTo>
                    <a:lnTo>
                      <a:pt x="3781731" y="649625"/>
                    </a:lnTo>
                    <a:cubicBezTo>
                      <a:pt x="3781731" y="652816"/>
                      <a:pt x="3780463" y="655876"/>
                      <a:pt x="3778207" y="658133"/>
                    </a:cubicBezTo>
                    <a:cubicBezTo>
                      <a:pt x="3775950" y="660389"/>
                      <a:pt x="3772890" y="661657"/>
                      <a:pt x="3769699" y="661657"/>
                    </a:cubicBezTo>
                    <a:lnTo>
                      <a:pt x="12032" y="661657"/>
                    </a:lnTo>
                    <a:cubicBezTo>
                      <a:pt x="5387" y="661657"/>
                      <a:pt x="0" y="656270"/>
                      <a:pt x="0" y="649625"/>
                    </a:cubicBezTo>
                    <a:lnTo>
                      <a:pt x="0" y="12032"/>
                    </a:lnTo>
                    <a:cubicBezTo>
                      <a:pt x="0" y="8841"/>
                      <a:pt x="1268" y="5781"/>
                      <a:pt x="3524" y="3524"/>
                    </a:cubicBezTo>
                    <a:cubicBezTo>
                      <a:pt x="5781" y="1268"/>
                      <a:pt x="8841" y="0"/>
                      <a:pt x="12032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104775"/>
                <a:ext cx="3781731" cy="766432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0" y="0"/>
              <a:ext cx="9411966" cy="1646731"/>
              <a:chOff x="0" y="0"/>
              <a:chExt cx="3781731" cy="66165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3781731" cy="661657"/>
              </a:xfrm>
              <a:custGeom>
                <a:avLst/>
                <a:gdLst/>
                <a:ahLst/>
                <a:cxnLst/>
                <a:rect l="l" t="t" r="r" b="b"/>
                <a:pathLst>
                  <a:path w="3781731" h="661657">
                    <a:moveTo>
                      <a:pt x="12032" y="0"/>
                    </a:moveTo>
                    <a:lnTo>
                      <a:pt x="3769699" y="0"/>
                    </a:lnTo>
                    <a:cubicBezTo>
                      <a:pt x="3772890" y="0"/>
                      <a:pt x="3775950" y="1268"/>
                      <a:pt x="3778207" y="3524"/>
                    </a:cubicBezTo>
                    <a:cubicBezTo>
                      <a:pt x="3780463" y="5781"/>
                      <a:pt x="3781731" y="8841"/>
                      <a:pt x="3781731" y="12032"/>
                    </a:cubicBezTo>
                    <a:lnTo>
                      <a:pt x="3781731" y="649625"/>
                    </a:lnTo>
                    <a:cubicBezTo>
                      <a:pt x="3781731" y="652816"/>
                      <a:pt x="3780463" y="655876"/>
                      <a:pt x="3778207" y="658133"/>
                    </a:cubicBezTo>
                    <a:cubicBezTo>
                      <a:pt x="3775950" y="660389"/>
                      <a:pt x="3772890" y="661657"/>
                      <a:pt x="3769699" y="661657"/>
                    </a:cubicBezTo>
                    <a:lnTo>
                      <a:pt x="12032" y="661657"/>
                    </a:lnTo>
                    <a:cubicBezTo>
                      <a:pt x="5387" y="661657"/>
                      <a:pt x="0" y="656270"/>
                      <a:pt x="0" y="649625"/>
                    </a:cubicBezTo>
                    <a:lnTo>
                      <a:pt x="0" y="12032"/>
                    </a:lnTo>
                    <a:cubicBezTo>
                      <a:pt x="0" y="8841"/>
                      <a:pt x="1268" y="5781"/>
                      <a:pt x="3524" y="3524"/>
                    </a:cubicBezTo>
                    <a:cubicBezTo>
                      <a:pt x="5781" y="1268"/>
                      <a:pt x="8841" y="0"/>
                      <a:pt x="12032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-104775"/>
                <a:ext cx="3781731" cy="766432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855540" y="202107"/>
              <a:ext cx="7988655" cy="1117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8"/>
                </a:lnSpc>
              </a:pPr>
              <a:r>
                <a:rPr lang="en-US" sz="554">
                  <a:solidFill>
                    <a:srgbClr val="020440"/>
                  </a:solidFill>
                  <a:latin typeface="Poppins"/>
                  <a:ea typeface="Poppins"/>
                  <a:cs typeface="Poppins"/>
                  <a:sym typeface="Poppins"/>
                </a:rPr>
                <a:t>      </a:t>
              </a:r>
            </a:p>
          </p:txBody>
        </p:sp>
      </p:grpSp>
      <p:sp>
        <p:nvSpPr>
          <p:cNvPr id="47" name="Freeform 47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8" b="-8547"/>
            </a:stretch>
          </a:blipFill>
        </p:spPr>
      </p:sp>
      <p:grpSp>
        <p:nvGrpSpPr>
          <p:cNvPr id="48" name="Group 48"/>
          <p:cNvGrpSpPr/>
          <p:nvPr/>
        </p:nvGrpSpPr>
        <p:grpSpPr>
          <a:xfrm>
            <a:off x="-4208672" y="3971719"/>
            <a:ext cx="7121417" cy="7319694"/>
            <a:chOff x="0" y="0"/>
            <a:chExt cx="9495223" cy="9759592"/>
          </a:xfrm>
        </p:grpSpPr>
        <p:grpSp>
          <p:nvGrpSpPr>
            <p:cNvPr id="49" name="Group 49"/>
            <p:cNvGrpSpPr/>
            <p:nvPr/>
          </p:nvGrpSpPr>
          <p:grpSpPr>
            <a:xfrm>
              <a:off x="0" y="0"/>
              <a:ext cx="9495223" cy="9759592"/>
              <a:chOff x="0" y="0"/>
              <a:chExt cx="790783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79078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812800">
                    <a:moveTo>
                      <a:pt x="395391" y="0"/>
                    </a:moveTo>
                    <a:cubicBezTo>
                      <a:pt x="177023" y="0"/>
                      <a:pt x="0" y="181951"/>
                      <a:pt x="0" y="406400"/>
                    </a:cubicBezTo>
                    <a:cubicBezTo>
                      <a:pt x="0" y="630849"/>
                      <a:pt x="177023" y="812800"/>
                      <a:pt x="395391" y="812800"/>
                    </a:cubicBezTo>
                    <a:cubicBezTo>
                      <a:pt x="613760" y="812800"/>
                      <a:pt x="790783" y="630849"/>
                      <a:pt x="790783" y="406400"/>
                    </a:cubicBezTo>
                    <a:cubicBezTo>
                      <a:pt x="790783" y="181951"/>
                      <a:pt x="613760" y="0"/>
                      <a:pt x="395391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4136" y="-28575"/>
                <a:ext cx="642511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0" y="0"/>
              <a:ext cx="9495223" cy="9759592"/>
              <a:chOff x="0" y="0"/>
              <a:chExt cx="790783" cy="8128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79078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812800">
                    <a:moveTo>
                      <a:pt x="395391" y="0"/>
                    </a:moveTo>
                    <a:cubicBezTo>
                      <a:pt x="177023" y="0"/>
                      <a:pt x="0" y="181951"/>
                      <a:pt x="0" y="406400"/>
                    </a:cubicBezTo>
                    <a:cubicBezTo>
                      <a:pt x="0" y="630849"/>
                      <a:pt x="177023" y="812800"/>
                      <a:pt x="395391" y="812800"/>
                    </a:cubicBezTo>
                    <a:cubicBezTo>
                      <a:pt x="613760" y="812800"/>
                      <a:pt x="790783" y="630849"/>
                      <a:pt x="790783" y="406400"/>
                    </a:cubicBezTo>
                    <a:cubicBezTo>
                      <a:pt x="790783" y="181951"/>
                      <a:pt x="613760" y="0"/>
                      <a:pt x="395391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4136" y="-28575"/>
                <a:ext cx="642511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sp>
        <p:nvSpPr>
          <p:cNvPr id="55" name="Freeform 55"/>
          <p:cNvSpPr/>
          <p:nvPr/>
        </p:nvSpPr>
        <p:spPr>
          <a:xfrm rot="10241770">
            <a:off x="-987061" y="-1216211"/>
            <a:ext cx="7696031" cy="5572084"/>
          </a:xfrm>
          <a:custGeom>
            <a:avLst/>
            <a:gdLst/>
            <a:ahLst/>
            <a:cxnLst/>
            <a:rect l="l" t="t" r="r" b="b"/>
            <a:pathLst>
              <a:path w="7696031" h="5572084">
                <a:moveTo>
                  <a:pt x="0" y="0"/>
                </a:moveTo>
                <a:lnTo>
                  <a:pt x="7696031" y="0"/>
                </a:lnTo>
                <a:lnTo>
                  <a:pt x="7696031" y="5572083"/>
                </a:lnTo>
                <a:lnTo>
                  <a:pt x="0" y="5572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4065270" y="4213656"/>
            <a:ext cx="465034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Enhance Pricing Strategy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327984" y="5534041"/>
            <a:ext cx="507873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sz="3029" b="1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 Customer Insights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604635" y="6991373"/>
            <a:ext cx="5252442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sz="3029" b="1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Enable Demand Forecasting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18440" y="8305823"/>
            <a:ext cx="12392905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sz="3029" b="1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Increase Operational Efficiency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96654" y="2660677"/>
            <a:ext cx="910956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Optimize Revenue Performance</a:t>
            </a:r>
          </a:p>
        </p:txBody>
      </p:sp>
      <p:sp>
        <p:nvSpPr>
          <p:cNvPr id="61" name="Freeform 61"/>
          <p:cNvSpPr/>
          <p:nvPr/>
        </p:nvSpPr>
        <p:spPr>
          <a:xfrm>
            <a:off x="0" y="-254132"/>
            <a:ext cx="18288000" cy="12415076"/>
          </a:xfrm>
          <a:custGeom>
            <a:avLst/>
            <a:gdLst/>
            <a:ahLst/>
            <a:cxnLst/>
            <a:rect l="l" t="t" r="r" b="b"/>
            <a:pathLst>
              <a:path w="18288000" h="12415076">
                <a:moveTo>
                  <a:pt x="0" y="0"/>
                </a:moveTo>
                <a:lnTo>
                  <a:pt x="18288000" y="0"/>
                </a:lnTo>
                <a:lnTo>
                  <a:pt x="18288000" y="12415077"/>
                </a:lnTo>
                <a:lnTo>
                  <a:pt x="0" y="12415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6" r="-946"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16597099" y="93621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8" b="-8547"/>
            </a:stretch>
          </a:blipFill>
        </p:spPr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6275" y="8455818"/>
            <a:ext cx="6747827" cy="802482"/>
          </a:xfrm>
          <a:custGeom>
            <a:avLst/>
            <a:gdLst/>
            <a:ahLst/>
            <a:cxnLst/>
            <a:rect l="l" t="t" r="r" b="b"/>
            <a:pathLst>
              <a:path w="6747827" h="802482">
                <a:moveTo>
                  <a:pt x="0" y="0"/>
                </a:moveTo>
                <a:lnTo>
                  <a:pt x="6747827" y="0"/>
                </a:lnTo>
                <a:lnTo>
                  <a:pt x="6747827" y="802482"/>
                </a:lnTo>
                <a:lnTo>
                  <a:pt x="0" y="802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370316" y="606922"/>
            <a:ext cx="10366134" cy="13557166"/>
            <a:chOff x="0" y="0"/>
            <a:chExt cx="4880610" cy="6383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blipFill>
              <a:blip r:embed="rId4">
                <a:alphaModFix amt="9999"/>
              </a:blip>
              <a:stretch>
                <a:fillRect l="-117830" r="-117856" b="3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5" name="Freeform 5"/>
          <p:cNvSpPr/>
          <p:nvPr/>
        </p:nvSpPr>
        <p:spPr>
          <a:xfrm>
            <a:off x="3232457" y="8419671"/>
            <a:ext cx="5632569" cy="669851"/>
          </a:xfrm>
          <a:custGeom>
            <a:avLst/>
            <a:gdLst/>
            <a:ahLst/>
            <a:cxnLst/>
            <a:rect l="l" t="t" r="r" b="b"/>
            <a:pathLst>
              <a:path w="5632569" h="669851">
                <a:moveTo>
                  <a:pt x="0" y="0"/>
                </a:moveTo>
                <a:lnTo>
                  <a:pt x="5632569" y="0"/>
                </a:lnTo>
                <a:lnTo>
                  <a:pt x="5632569" y="669850"/>
                </a:lnTo>
                <a:lnTo>
                  <a:pt x="0" y="66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69789" y="7658769"/>
            <a:ext cx="2362668" cy="1334047"/>
            <a:chOff x="0" y="0"/>
            <a:chExt cx="3150224" cy="177873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1232646"/>
              <a:ext cx="3150224" cy="546084"/>
              <a:chOff x="0" y="0"/>
              <a:chExt cx="1016976" cy="17629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16976" cy="176290"/>
              </a:xfrm>
              <a:custGeom>
                <a:avLst/>
                <a:gdLst/>
                <a:ahLst/>
                <a:cxnLst/>
                <a:rect l="l" t="t" r="r" b="b"/>
                <a:pathLst>
                  <a:path w="1016976" h="176290">
                    <a:moveTo>
                      <a:pt x="508488" y="0"/>
                    </a:moveTo>
                    <a:cubicBezTo>
                      <a:pt x="227658" y="0"/>
                      <a:pt x="0" y="39464"/>
                      <a:pt x="0" y="88145"/>
                    </a:cubicBezTo>
                    <a:cubicBezTo>
                      <a:pt x="0" y="136826"/>
                      <a:pt x="227658" y="176290"/>
                      <a:pt x="508488" y="176290"/>
                    </a:cubicBezTo>
                    <a:cubicBezTo>
                      <a:pt x="789318" y="176290"/>
                      <a:pt x="1016976" y="136826"/>
                      <a:pt x="1016976" y="88145"/>
                    </a:cubicBezTo>
                    <a:cubicBezTo>
                      <a:pt x="1016976" y="39464"/>
                      <a:pt x="789318" y="0"/>
                      <a:pt x="508488" y="0"/>
                    </a:cubicBez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5342" y="-88248"/>
                <a:ext cx="826293" cy="248011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10800000">
              <a:off x="0" y="273042"/>
              <a:ext cx="3150224" cy="1232646"/>
              <a:chOff x="0" y="0"/>
              <a:chExt cx="682001" cy="26685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82001" cy="266859"/>
              </a:xfrm>
              <a:custGeom>
                <a:avLst/>
                <a:gdLst/>
                <a:ahLst/>
                <a:cxnLst/>
                <a:rect l="l" t="t" r="r" b="b"/>
                <a:pathLst>
                  <a:path w="682001" h="266859">
                    <a:moveTo>
                      <a:pt x="0" y="0"/>
                    </a:moveTo>
                    <a:lnTo>
                      <a:pt x="682001" y="0"/>
                    </a:lnTo>
                    <a:lnTo>
                      <a:pt x="682001" y="266859"/>
                    </a:lnTo>
                    <a:lnTo>
                      <a:pt x="0" y="266859"/>
                    </a:ln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04775"/>
                <a:ext cx="682001" cy="371634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10800000">
              <a:off x="0" y="0"/>
              <a:ext cx="3150224" cy="546084"/>
              <a:chOff x="0" y="0"/>
              <a:chExt cx="1016976" cy="17629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16976" cy="176290"/>
              </a:xfrm>
              <a:custGeom>
                <a:avLst/>
                <a:gdLst/>
                <a:ahLst/>
                <a:cxnLst/>
                <a:rect l="l" t="t" r="r" b="b"/>
                <a:pathLst>
                  <a:path w="1016976" h="176290">
                    <a:moveTo>
                      <a:pt x="508488" y="0"/>
                    </a:moveTo>
                    <a:cubicBezTo>
                      <a:pt x="227658" y="0"/>
                      <a:pt x="0" y="39464"/>
                      <a:pt x="0" y="88145"/>
                    </a:cubicBezTo>
                    <a:cubicBezTo>
                      <a:pt x="0" y="136826"/>
                      <a:pt x="227658" y="176290"/>
                      <a:pt x="508488" y="176290"/>
                    </a:cubicBezTo>
                    <a:cubicBezTo>
                      <a:pt x="789318" y="176290"/>
                      <a:pt x="1016976" y="136826"/>
                      <a:pt x="1016976" y="88145"/>
                    </a:cubicBezTo>
                    <a:cubicBezTo>
                      <a:pt x="1016976" y="39464"/>
                      <a:pt x="789318" y="0"/>
                      <a:pt x="508488" y="0"/>
                    </a:cubicBez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5342" y="-88248"/>
                <a:ext cx="826293" cy="248011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4051151" y="6872499"/>
            <a:ext cx="2704060" cy="2292475"/>
            <a:chOff x="0" y="0"/>
            <a:chExt cx="3605413" cy="305663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2510549"/>
              <a:ext cx="3605413" cy="546084"/>
              <a:chOff x="0" y="0"/>
              <a:chExt cx="1163923" cy="17629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63923" cy="176290"/>
              </a:xfrm>
              <a:custGeom>
                <a:avLst/>
                <a:gdLst/>
                <a:ahLst/>
                <a:cxnLst/>
                <a:rect l="l" t="t" r="r" b="b"/>
                <a:pathLst>
                  <a:path w="1163923" h="176290">
                    <a:moveTo>
                      <a:pt x="581962" y="0"/>
                    </a:moveTo>
                    <a:cubicBezTo>
                      <a:pt x="260553" y="0"/>
                      <a:pt x="0" y="39464"/>
                      <a:pt x="0" y="88145"/>
                    </a:cubicBezTo>
                    <a:cubicBezTo>
                      <a:pt x="0" y="136826"/>
                      <a:pt x="260553" y="176290"/>
                      <a:pt x="581962" y="176290"/>
                    </a:cubicBezTo>
                    <a:cubicBezTo>
                      <a:pt x="903370" y="176290"/>
                      <a:pt x="1163923" y="136826"/>
                      <a:pt x="1163923" y="88145"/>
                    </a:cubicBezTo>
                    <a:cubicBezTo>
                      <a:pt x="1163923" y="39464"/>
                      <a:pt x="903370" y="0"/>
                      <a:pt x="581962" y="0"/>
                    </a:cubicBez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9118" y="-88248"/>
                <a:ext cx="945688" cy="248011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-10800000">
              <a:off x="0" y="291556"/>
              <a:ext cx="3605413" cy="2492035"/>
              <a:chOff x="0" y="0"/>
              <a:chExt cx="780546" cy="53950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80546" cy="539508"/>
              </a:xfrm>
              <a:custGeom>
                <a:avLst/>
                <a:gdLst/>
                <a:ahLst/>
                <a:cxnLst/>
                <a:rect l="l" t="t" r="r" b="b"/>
                <a:pathLst>
                  <a:path w="780546" h="539508">
                    <a:moveTo>
                      <a:pt x="0" y="0"/>
                    </a:moveTo>
                    <a:lnTo>
                      <a:pt x="780546" y="0"/>
                    </a:lnTo>
                    <a:lnTo>
                      <a:pt x="780546" y="539508"/>
                    </a:lnTo>
                    <a:lnTo>
                      <a:pt x="0" y="539508"/>
                    </a:ln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104775"/>
                <a:ext cx="780546" cy="644283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-10800000">
              <a:off x="0" y="0"/>
              <a:ext cx="3605413" cy="546084"/>
              <a:chOff x="0" y="0"/>
              <a:chExt cx="1163923" cy="17629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63923" cy="176290"/>
              </a:xfrm>
              <a:custGeom>
                <a:avLst/>
                <a:gdLst/>
                <a:ahLst/>
                <a:cxnLst/>
                <a:rect l="l" t="t" r="r" b="b"/>
                <a:pathLst>
                  <a:path w="1163923" h="176290">
                    <a:moveTo>
                      <a:pt x="581962" y="0"/>
                    </a:moveTo>
                    <a:cubicBezTo>
                      <a:pt x="260553" y="0"/>
                      <a:pt x="0" y="39464"/>
                      <a:pt x="0" y="88145"/>
                    </a:cubicBezTo>
                    <a:cubicBezTo>
                      <a:pt x="0" y="136826"/>
                      <a:pt x="260553" y="176290"/>
                      <a:pt x="581962" y="176290"/>
                    </a:cubicBezTo>
                    <a:cubicBezTo>
                      <a:pt x="903370" y="176290"/>
                      <a:pt x="1163923" y="136826"/>
                      <a:pt x="1163923" y="88145"/>
                    </a:cubicBezTo>
                    <a:cubicBezTo>
                      <a:pt x="1163923" y="39464"/>
                      <a:pt x="903370" y="0"/>
                      <a:pt x="581962" y="0"/>
                    </a:cubicBez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9118" y="-88248"/>
                <a:ext cx="945688" cy="248011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sp>
        <p:nvSpPr>
          <p:cNvPr id="26" name="Freeform 26"/>
          <p:cNvSpPr/>
          <p:nvPr/>
        </p:nvSpPr>
        <p:spPr>
          <a:xfrm>
            <a:off x="4469440" y="6687915"/>
            <a:ext cx="3104224" cy="369168"/>
          </a:xfrm>
          <a:custGeom>
            <a:avLst/>
            <a:gdLst/>
            <a:ahLst/>
            <a:cxnLst/>
            <a:rect l="l" t="t" r="r" b="b"/>
            <a:pathLst>
              <a:path w="3104224" h="369168">
                <a:moveTo>
                  <a:pt x="0" y="0"/>
                </a:moveTo>
                <a:lnTo>
                  <a:pt x="3104224" y="0"/>
                </a:lnTo>
                <a:lnTo>
                  <a:pt x="3104224" y="369169"/>
                </a:lnTo>
                <a:lnTo>
                  <a:pt x="0" y="369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832925" y="8455818"/>
            <a:ext cx="4515453" cy="536998"/>
          </a:xfrm>
          <a:custGeom>
            <a:avLst/>
            <a:gdLst/>
            <a:ahLst/>
            <a:cxnLst/>
            <a:rect l="l" t="t" r="r" b="b"/>
            <a:pathLst>
              <a:path w="4515453" h="536998">
                <a:moveTo>
                  <a:pt x="0" y="0"/>
                </a:moveTo>
                <a:lnTo>
                  <a:pt x="4515454" y="0"/>
                </a:lnTo>
                <a:lnTo>
                  <a:pt x="4515454" y="536998"/>
                </a:lnTo>
                <a:lnTo>
                  <a:pt x="0" y="536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1132191" y="8549144"/>
            <a:ext cx="5178326" cy="615830"/>
          </a:xfrm>
          <a:custGeom>
            <a:avLst/>
            <a:gdLst/>
            <a:ahLst/>
            <a:cxnLst/>
            <a:rect l="l" t="t" r="r" b="b"/>
            <a:pathLst>
              <a:path w="5178326" h="615830">
                <a:moveTo>
                  <a:pt x="0" y="0"/>
                </a:moveTo>
                <a:lnTo>
                  <a:pt x="5178326" y="0"/>
                </a:lnTo>
                <a:lnTo>
                  <a:pt x="5178326" y="615830"/>
                </a:lnTo>
                <a:lnTo>
                  <a:pt x="0" y="61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7563977" y="5681488"/>
            <a:ext cx="2759446" cy="3408033"/>
            <a:chOff x="0" y="0"/>
            <a:chExt cx="3679262" cy="4544044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4112044"/>
              <a:ext cx="3679262" cy="432000"/>
              <a:chOff x="0" y="0"/>
              <a:chExt cx="1501432" cy="17629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501432" cy="176290"/>
              </a:xfrm>
              <a:custGeom>
                <a:avLst/>
                <a:gdLst/>
                <a:ahLst/>
                <a:cxnLst/>
                <a:rect l="l" t="t" r="r" b="b"/>
                <a:pathLst>
                  <a:path w="1501432" h="176290">
                    <a:moveTo>
                      <a:pt x="750716" y="0"/>
                    </a:moveTo>
                    <a:cubicBezTo>
                      <a:pt x="336107" y="0"/>
                      <a:pt x="0" y="39464"/>
                      <a:pt x="0" y="88145"/>
                    </a:cubicBezTo>
                    <a:cubicBezTo>
                      <a:pt x="0" y="136826"/>
                      <a:pt x="336107" y="176290"/>
                      <a:pt x="750716" y="176290"/>
                    </a:cubicBezTo>
                    <a:cubicBezTo>
                      <a:pt x="1165325" y="176290"/>
                      <a:pt x="1501432" y="136826"/>
                      <a:pt x="1501432" y="88145"/>
                    </a:cubicBezTo>
                    <a:cubicBezTo>
                      <a:pt x="1501432" y="39464"/>
                      <a:pt x="1165325" y="0"/>
                      <a:pt x="750716" y="0"/>
                    </a:cubicBez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40759" y="-88248"/>
                <a:ext cx="1219914" cy="248011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-10800000">
              <a:off x="0" y="273042"/>
              <a:ext cx="3679262" cy="4112044"/>
              <a:chOff x="0" y="0"/>
              <a:chExt cx="796534" cy="89022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796534" cy="890228"/>
              </a:xfrm>
              <a:custGeom>
                <a:avLst/>
                <a:gdLst/>
                <a:ahLst/>
                <a:cxnLst/>
                <a:rect l="l" t="t" r="r" b="b"/>
                <a:pathLst>
                  <a:path w="796534" h="890228">
                    <a:moveTo>
                      <a:pt x="0" y="0"/>
                    </a:moveTo>
                    <a:lnTo>
                      <a:pt x="796534" y="0"/>
                    </a:lnTo>
                    <a:lnTo>
                      <a:pt x="796534" y="890228"/>
                    </a:lnTo>
                    <a:lnTo>
                      <a:pt x="0" y="890228"/>
                    </a:ln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104775"/>
                <a:ext cx="796534" cy="995003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-10800000">
              <a:off x="0" y="0"/>
              <a:ext cx="3679262" cy="432000"/>
              <a:chOff x="0" y="0"/>
              <a:chExt cx="1501432" cy="17629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501432" cy="176290"/>
              </a:xfrm>
              <a:custGeom>
                <a:avLst/>
                <a:gdLst/>
                <a:ahLst/>
                <a:cxnLst/>
                <a:rect l="l" t="t" r="r" b="b"/>
                <a:pathLst>
                  <a:path w="1501432" h="176290">
                    <a:moveTo>
                      <a:pt x="750716" y="0"/>
                    </a:moveTo>
                    <a:cubicBezTo>
                      <a:pt x="336107" y="0"/>
                      <a:pt x="0" y="39464"/>
                      <a:pt x="0" y="88145"/>
                    </a:cubicBezTo>
                    <a:cubicBezTo>
                      <a:pt x="0" y="136826"/>
                      <a:pt x="336107" y="176290"/>
                      <a:pt x="750716" y="176290"/>
                    </a:cubicBezTo>
                    <a:cubicBezTo>
                      <a:pt x="1165325" y="176290"/>
                      <a:pt x="1501432" y="136826"/>
                      <a:pt x="1501432" y="88145"/>
                    </a:cubicBezTo>
                    <a:cubicBezTo>
                      <a:pt x="1501432" y="39464"/>
                      <a:pt x="1165325" y="0"/>
                      <a:pt x="750716" y="0"/>
                    </a:cubicBez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40759" y="-88248"/>
                <a:ext cx="1219914" cy="248011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sp>
        <p:nvSpPr>
          <p:cNvPr id="39" name="Freeform 39"/>
          <p:cNvSpPr/>
          <p:nvPr/>
        </p:nvSpPr>
        <p:spPr>
          <a:xfrm>
            <a:off x="8027967" y="5496904"/>
            <a:ext cx="3104224" cy="369168"/>
          </a:xfrm>
          <a:custGeom>
            <a:avLst/>
            <a:gdLst/>
            <a:ahLst/>
            <a:cxnLst/>
            <a:rect l="l" t="t" r="r" b="b"/>
            <a:pathLst>
              <a:path w="3104224" h="369168">
                <a:moveTo>
                  <a:pt x="0" y="0"/>
                </a:moveTo>
                <a:lnTo>
                  <a:pt x="3104224" y="0"/>
                </a:lnTo>
                <a:lnTo>
                  <a:pt x="3104224" y="369169"/>
                </a:lnTo>
                <a:lnTo>
                  <a:pt x="0" y="369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11103130" y="4762196"/>
            <a:ext cx="2840790" cy="4391538"/>
            <a:chOff x="0" y="0"/>
            <a:chExt cx="3787721" cy="5855384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5309301"/>
              <a:ext cx="3787721" cy="546084"/>
              <a:chOff x="0" y="0"/>
              <a:chExt cx="1222777" cy="17629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222777" cy="176290"/>
              </a:xfrm>
              <a:custGeom>
                <a:avLst/>
                <a:gdLst/>
                <a:ahLst/>
                <a:cxnLst/>
                <a:rect l="l" t="t" r="r" b="b"/>
                <a:pathLst>
                  <a:path w="1222777" h="176290">
                    <a:moveTo>
                      <a:pt x="611389" y="0"/>
                    </a:moveTo>
                    <a:cubicBezTo>
                      <a:pt x="273728" y="0"/>
                      <a:pt x="0" y="39464"/>
                      <a:pt x="0" y="88145"/>
                    </a:cubicBezTo>
                    <a:cubicBezTo>
                      <a:pt x="0" y="136826"/>
                      <a:pt x="273728" y="176290"/>
                      <a:pt x="611389" y="176290"/>
                    </a:cubicBezTo>
                    <a:cubicBezTo>
                      <a:pt x="949049" y="176290"/>
                      <a:pt x="1222777" y="136826"/>
                      <a:pt x="1222777" y="88145"/>
                    </a:cubicBezTo>
                    <a:cubicBezTo>
                      <a:pt x="1222777" y="39464"/>
                      <a:pt x="949049" y="0"/>
                      <a:pt x="611389" y="0"/>
                    </a:cubicBez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14635" y="-88248"/>
                <a:ext cx="993506" cy="248011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-10800000">
              <a:off x="0" y="273042"/>
              <a:ext cx="3787721" cy="5309301"/>
              <a:chOff x="0" y="0"/>
              <a:chExt cx="820014" cy="11494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20014" cy="1149426"/>
              </a:xfrm>
              <a:custGeom>
                <a:avLst/>
                <a:gdLst/>
                <a:ahLst/>
                <a:cxnLst/>
                <a:rect l="l" t="t" r="r" b="b"/>
                <a:pathLst>
                  <a:path w="820014" h="1149426">
                    <a:moveTo>
                      <a:pt x="0" y="0"/>
                    </a:moveTo>
                    <a:lnTo>
                      <a:pt x="820014" y="0"/>
                    </a:lnTo>
                    <a:lnTo>
                      <a:pt x="820014" y="1149426"/>
                    </a:lnTo>
                    <a:lnTo>
                      <a:pt x="0" y="1149426"/>
                    </a:ln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104775"/>
                <a:ext cx="820014" cy="1254201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-10800000">
              <a:off x="0" y="0"/>
              <a:ext cx="3787721" cy="546084"/>
              <a:chOff x="0" y="0"/>
              <a:chExt cx="1222777" cy="17629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222777" cy="176290"/>
              </a:xfrm>
              <a:custGeom>
                <a:avLst/>
                <a:gdLst/>
                <a:ahLst/>
                <a:cxnLst/>
                <a:rect l="l" t="t" r="r" b="b"/>
                <a:pathLst>
                  <a:path w="1222777" h="176290">
                    <a:moveTo>
                      <a:pt x="611389" y="0"/>
                    </a:moveTo>
                    <a:cubicBezTo>
                      <a:pt x="273728" y="0"/>
                      <a:pt x="0" y="39464"/>
                      <a:pt x="0" y="88145"/>
                    </a:cubicBezTo>
                    <a:cubicBezTo>
                      <a:pt x="0" y="136826"/>
                      <a:pt x="273728" y="176290"/>
                      <a:pt x="611389" y="176290"/>
                    </a:cubicBezTo>
                    <a:cubicBezTo>
                      <a:pt x="949049" y="176290"/>
                      <a:pt x="1222777" y="136826"/>
                      <a:pt x="1222777" y="88145"/>
                    </a:cubicBezTo>
                    <a:cubicBezTo>
                      <a:pt x="1222777" y="39464"/>
                      <a:pt x="949049" y="0"/>
                      <a:pt x="611389" y="0"/>
                    </a:cubicBez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14635" y="-88248"/>
                <a:ext cx="993506" cy="248011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sp>
        <p:nvSpPr>
          <p:cNvPr id="50" name="Freeform 50"/>
          <p:cNvSpPr/>
          <p:nvPr/>
        </p:nvSpPr>
        <p:spPr>
          <a:xfrm>
            <a:off x="11813394" y="4601278"/>
            <a:ext cx="3104224" cy="369168"/>
          </a:xfrm>
          <a:custGeom>
            <a:avLst/>
            <a:gdLst/>
            <a:ahLst/>
            <a:cxnLst/>
            <a:rect l="l" t="t" r="r" b="b"/>
            <a:pathLst>
              <a:path w="3104224" h="369168">
                <a:moveTo>
                  <a:pt x="0" y="0"/>
                </a:moveTo>
                <a:lnTo>
                  <a:pt x="3104224" y="0"/>
                </a:lnTo>
                <a:lnTo>
                  <a:pt x="3104224" y="369168"/>
                </a:lnTo>
                <a:lnTo>
                  <a:pt x="0" y="369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095527" y="7661995"/>
            <a:ext cx="3104224" cy="369168"/>
          </a:xfrm>
          <a:custGeom>
            <a:avLst/>
            <a:gdLst/>
            <a:ahLst/>
            <a:cxnLst/>
            <a:rect l="l" t="t" r="r" b="b"/>
            <a:pathLst>
              <a:path w="3104224" h="369168">
                <a:moveTo>
                  <a:pt x="0" y="0"/>
                </a:moveTo>
                <a:lnTo>
                  <a:pt x="3104224" y="0"/>
                </a:lnTo>
                <a:lnTo>
                  <a:pt x="3104224" y="369168"/>
                </a:lnTo>
                <a:lnTo>
                  <a:pt x="0" y="369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2" name="Group 52"/>
          <p:cNvGrpSpPr/>
          <p:nvPr/>
        </p:nvGrpSpPr>
        <p:grpSpPr>
          <a:xfrm>
            <a:off x="505210" y="4946780"/>
            <a:ext cx="2890546" cy="2910830"/>
            <a:chOff x="0" y="0"/>
            <a:chExt cx="3854061" cy="3881107"/>
          </a:xfrm>
        </p:grpSpPr>
        <p:grpSp>
          <p:nvGrpSpPr>
            <p:cNvPr id="53" name="Group 53"/>
            <p:cNvGrpSpPr/>
            <p:nvPr/>
          </p:nvGrpSpPr>
          <p:grpSpPr>
            <a:xfrm>
              <a:off x="0" y="0"/>
              <a:ext cx="3854061" cy="3881107"/>
              <a:chOff x="0" y="0"/>
              <a:chExt cx="749904" cy="75516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749904" cy="755166"/>
              </a:xfrm>
              <a:custGeom>
                <a:avLst/>
                <a:gdLst/>
                <a:ahLst/>
                <a:cxnLst/>
                <a:rect l="l" t="t" r="r" b="b"/>
                <a:pathLst>
                  <a:path w="749904" h="755166">
                    <a:moveTo>
                      <a:pt x="374952" y="0"/>
                    </a:moveTo>
                    <a:cubicBezTo>
                      <a:pt x="167872" y="0"/>
                      <a:pt x="0" y="169050"/>
                      <a:pt x="0" y="377583"/>
                    </a:cubicBezTo>
                    <a:cubicBezTo>
                      <a:pt x="0" y="586116"/>
                      <a:pt x="167872" y="755166"/>
                      <a:pt x="374952" y="755166"/>
                    </a:cubicBezTo>
                    <a:cubicBezTo>
                      <a:pt x="582032" y="755166"/>
                      <a:pt x="749904" y="586116"/>
                      <a:pt x="749904" y="377583"/>
                    </a:cubicBezTo>
                    <a:cubicBezTo>
                      <a:pt x="749904" y="169050"/>
                      <a:pt x="582032" y="0"/>
                      <a:pt x="374952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0303" y="-33978"/>
                <a:ext cx="609297" cy="7183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0" y="0"/>
              <a:ext cx="3854061" cy="3881107"/>
              <a:chOff x="0" y="0"/>
              <a:chExt cx="749904" cy="75516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749904" cy="755166"/>
              </a:xfrm>
              <a:custGeom>
                <a:avLst/>
                <a:gdLst/>
                <a:ahLst/>
                <a:cxnLst/>
                <a:rect l="l" t="t" r="r" b="b"/>
                <a:pathLst>
                  <a:path w="749904" h="755166">
                    <a:moveTo>
                      <a:pt x="374952" y="0"/>
                    </a:moveTo>
                    <a:cubicBezTo>
                      <a:pt x="167872" y="0"/>
                      <a:pt x="0" y="169050"/>
                      <a:pt x="0" y="377583"/>
                    </a:cubicBezTo>
                    <a:cubicBezTo>
                      <a:pt x="0" y="586116"/>
                      <a:pt x="167872" y="755166"/>
                      <a:pt x="374952" y="755166"/>
                    </a:cubicBezTo>
                    <a:cubicBezTo>
                      <a:pt x="582032" y="755166"/>
                      <a:pt x="749904" y="586116"/>
                      <a:pt x="749904" y="377583"/>
                    </a:cubicBezTo>
                    <a:cubicBezTo>
                      <a:pt x="749904" y="169050"/>
                      <a:pt x="582032" y="0"/>
                      <a:pt x="374952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0303" y="-33978"/>
                <a:ext cx="609297" cy="7183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207347" y="1677257"/>
              <a:ext cx="3439366" cy="739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</a:pPr>
              <a:r>
                <a:rPr lang="en-US" sz="1979" b="1">
                  <a:solidFill>
                    <a:srgbClr val="020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Source</a:t>
              </a:r>
            </a:p>
            <a:p>
              <a:pPr algn="ctr">
                <a:lnSpc>
                  <a:spcPts val="1708"/>
                </a:lnSpc>
              </a:pPr>
              <a:endParaRPr lang="en-US" sz="197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051151" y="4524174"/>
            <a:ext cx="3048116" cy="2515950"/>
            <a:chOff x="0" y="0"/>
            <a:chExt cx="4064154" cy="3354600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4064154" cy="3354600"/>
              <a:chOff x="0" y="0"/>
              <a:chExt cx="790783" cy="65272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790783" cy="652721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652721">
                    <a:moveTo>
                      <a:pt x="395391" y="0"/>
                    </a:moveTo>
                    <a:cubicBezTo>
                      <a:pt x="177023" y="0"/>
                      <a:pt x="0" y="146117"/>
                      <a:pt x="0" y="326361"/>
                    </a:cubicBezTo>
                    <a:cubicBezTo>
                      <a:pt x="0" y="506605"/>
                      <a:pt x="177023" y="652721"/>
                      <a:pt x="395391" y="652721"/>
                    </a:cubicBezTo>
                    <a:cubicBezTo>
                      <a:pt x="613760" y="652721"/>
                      <a:pt x="790783" y="506605"/>
                      <a:pt x="790783" y="326361"/>
                    </a:cubicBezTo>
                    <a:cubicBezTo>
                      <a:pt x="790783" y="146117"/>
                      <a:pt x="613760" y="0"/>
                      <a:pt x="395391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4136" y="-43582"/>
                <a:ext cx="642511" cy="635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0" y="0"/>
              <a:ext cx="4064154" cy="3354600"/>
              <a:chOff x="0" y="0"/>
              <a:chExt cx="790783" cy="652721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790783" cy="652721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652721">
                    <a:moveTo>
                      <a:pt x="395391" y="0"/>
                    </a:moveTo>
                    <a:cubicBezTo>
                      <a:pt x="177023" y="0"/>
                      <a:pt x="0" y="146117"/>
                      <a:pt x="0" y="326361"/>
                    </a:cubicBezTo>
                    <a:cubicBezTo>
                      <a:pt x="0" y="506605"/>
                      <a:pt x="177023" y="652721"/>
                      <a:pt x="395391" y="652721"/>
                    </a:cubicBezTo>
                    <a:cubicBezTo>
                      <a:pt x="613760" y="652721"/>
                      <a:pt x="790783" y="506605"/>
                      <a:pt x="790783" y="326361"/>
                    </a:cubicBezTo>
                    <a:cubicBezTo>
                      <a:pt x="790783" y="146117"/>
                      <a:pt x="613760" y="0"/>
                      <a:pt x="395391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4136" y="-43582"/>
                <a:ext cx="642511" cy="635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218650" y="1278943"/>
              <a:ext cx="3626854" cy="739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</a:pPr>
              <a:r>
                <a:rPr lang="en-US" sz="1979" b="1">
                  <a:solidFill>
                    <a:srgbClr val="020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Cleaning</a:t>
              </a:r>
            </a:p>
            <a:p>
              <a:pPr algn="ctr">
                <a:lnSpc>
                  <a:spcPts val="1708"/>
                </a:lnSpc>
              </a:pPr>
              <a:endParaRPr lang="en-US" sz="197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340968" y="3343303"/>
            <a:ext cx="3048116" cy="2515950"/>
            <a:chOff x="0" y="0"/>
            <a:chExt cx="4064154" cy="3354600"/>
          </a:xfrm>
        </p:grpSpPr>
        <p:grpSp>
          <p:nvGrpSpPr>
            <p:cNvPr id="69" name="Group 69"/>
            <p:cNvGrpSpPr/>
            <p:nvPr/>
          </p:nvGrpSpPr>
          <p:grpSpPr>
            <a:xfrm>
              <a:off x="0" y="0"/>
              <a:ext cx="4064154" cy="3354600"/>
              <a:chOff x="0" y="0"/>
              <a:chExt cx="790783" cy="652721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790783" cy="652721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652721">
                    <a:moveTo>
                      <a:pt x="395391" y="0"/>
                    </a:moveTo>
                    <a:cubicBezTo>
                      <a:pt x="177023" y="0"/>
                      <a:pt x="0" y="146117"/>
                      <a:pt x="0" y="326361"/>
                    </a:cubicBezTo>
                    <a:cubicBezTo>
                      <a:pt x="0" y="506605"/>
                      <a:pt x="177023" y="652721"/>
                      <a:pt x="395391" y="652721"/>
                    </a:cubicBezTo>
                    <a:cubicBezTo>
                      <a:pt x="613760" y="652721"/>
                      <a:pt x="790783" y="506605"/>
                      <a:pt x="790783" y="326361"/>
                    </a:cubicBezTo>
                    <a:cubicBezTo>
                      <a:pt x="790783" y="146117"/>
                      <a:pt x="613760" y="0"/>
                      <a:pt x="395391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4136" y="-43582"/>
                <a:ext cx="642511" cy="635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0" y="0"/>
              <a:ext cx="4064154" cy="3354600"/>
              <a:chOff x="0" y="0"/>
              <a:chExt cx="790783" cy="652721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790783" cy="652721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652721">
                    <a:moveTo>
                      <a:pt x="395391" y="0"/>
                    </a:moveTo>
                    <a:cubicBezTo>
                      <a:pt x="177023" y="0"/>
                      <a:pt x="0" y="146117"/>
                      <a:pt x="0" y="326361"/>
                    </a:cubicBezTo>
                    <a:cubicBezTo>
                      <a:pt x="0" y="506605"/>
                      <a:pt x="177023" y="652721"/>
                      <a:pt x="395391" y="652721"/>
                    </a:cubicBezTo>
                    <a:cubicBezTo>
                      <a:pt x="613760" y="652721"/>
                      <a:pt x="790783" y="506605"/>
                      <a:pt x="790783" y="326361"/>
                    </a:cubicBezTo>
                    <a:cubicBezTo>
                      <a:pt x="790783" y="146117"/>
                      <a:pt x="613760" y="0"/>
                      <a:pt x="395391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4136" y="-43582"/>
                <a:ext cx="642511" cy="635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sp>
          <p:nvSpPr>
            <p:cNvPr id="75" name="TextBox 75"/>
            <p:cNvSpPr txBox="1"/>
            <p:nvPr/>
          </p:nvSpPr>
          <p:spPr>
            <a:xfrm>
              <a:off x="218650" y="1278943"/>
              <a:ext cx="3626854" cy="739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</a:pPr>
              <a:r>
                <a:rPr lang="en-US" sz="1979" b="1">
                  <a:solidFill>
                    <a:srgbClr val="020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Modeling</a:t>
              </a:r>
            </a:p>
            <a:p>
              <a:pPr algn="ctr">
                <a:lnSpc>
                  <a:spcPts val="1708"/>
                </a:lnSpc>
              </a:pPr>
              <a:endParaRPr lang="en-US" sz="197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354991" y="1478931"/>
            <a:ext cx="8735661" cy="77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Solution Architecture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354991" y="3084957"/>
            <a:ext cx="4517312" cy="408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2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From Raw Data to Insights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14723627" y="4133135"/>
            <a:ext cx="2840790" cy="4859681"/>
            <a:chOff x="0" y="0"/>
            <a:chExt cx="3787721" cy="6479574"/>
          </a:xfrm>
        </p:grpSpPr>
        <p:grpSp>
          <p:nvGrpSpPr>
            <p:cNvPr id="79" name="Group 79"/>
            <p:cNvGrpSpPr/>
            <p:nvPr/>
          </p:nvGrpSpPr>
          <p:grpSpPr>
            <a:xfrm>
              <a:off x="0" y="5875277"/>
              <a:ext cx="3787721" cy="604297"/>
              <a:chOff x="0" y="0"/>
              <a:chExt cx="1222777" cy="19508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1222777" cy="195083"/>
              </a:xfrm>
              <a:custGeom>
                <a:avLst/>
                <a:gdLst/>
                <a:ahLst/>
                <a:cxnLst/>
                <a:rect l="l" t="t" r="r" b="b"/>
                <a:pathLst>
                  <a:path w="1222777" h="195083">
                    <a:moveTo>
                      <a:pt x="611389" y="0"/>
                    </a:moveTo>
                    <a:cubicBezTo>
                      <a:pt x="273728" y="0"/>
                      <a:pt x="0" y="43671"/>
                      <a:pt x="0" y="97542"/>
                    </a:cubicBezTo>
                    <a:cubicBezTo>
                      <a:pt x="0" y="151412"/>
                      <a:pt x="273728" y="195083"/>
                      <a:pt x="611389" y="195083"/>
                    </a:cubicBezTo>
                    <a:cubicBezTo>
                      <a:pt x="949049" y="195083"/>
                      <a:pt x="1222777" y="151412"/>
                      <a:pt x="1222777" y="97542"/>
                    </a:cubicBezTo>
                    <a:cubicBezTo>
                      <a:pt x="1222777" y="43671"/>
                      <a:pt x="949049" y="0"/>
                      <a:pt x="611389" y="0"/>
                    </a:cubicBez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114635" y="-86486"/>
                <a:ext cx="993506" cy="263280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 rot="-10800000">
              <a:off x="0" y="302148"/>
              <a:ext cx="3787721" cy="5875277"/>
              <a:chOff x="0" y="0"/>
              <a:chExt cx="820014" cy="1271956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20014" cy="1271956"/>
              </a:xfrm>
              <a:custGeom>
                <a:avLst/>
                <a:gdLst/>
                <a:ahLst/>
                <a:cxnLst/>
                <a:rect l="l" t="t" r="r" b="b"/>
                <a:pathLst>
                  <a:path w="820014" h="1271956">
                    <a:moveTo>
                      <a:pt x="0" y="0"/>
                    </a:moveTo>
                    <a:lnTo>
                      <a:pt x="820014" y="0"/>
                    </a:lnTo>
                    <a:lnTo>
                      <a:pt x="820014" y="1271956"/>
                    </a:lnTo>
                    <a:lnTo>
                      <a:pt x="0" y="1271956"/>
                    </a:ln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0" y="-104775"/>
                <a:ext cx="820014" cy="1376731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 rot="-10800000">
              <a:off x="0" y="0"/>
              <a:ext cx="3787721" cy="604297"/>
              <a:chOff x="0" y="0"/>
              <a:chExt cx="1222777" cy="195083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1222777" cy="195083"/>
              </a:xfrm>
              <a:custGeom>
                <a:avLst/>
                <a:gdLst/>
                <a:ahLst/>
                <a:cxnLst/>
                <a:rect l="l" t="t" r="r" b="b"/>
                <a:pathLst>
                  <a:path w="1222777" h="195083">
                    <a:moveTo>
                      <a:pt x="611389" y="0"/>
                    </a:moveTo>
                    <a:cubicBezTo>
                      <a:pt x="273728" y="0"/>
                      <a:pt x="0" y="43671"/>
                      <a:pt x="0" y="97542"/>
                    </a:cubicBezTo>
                    <a:cubicBezTo>
                      <a:pt x="0" y="151412"/>
                      <a:pt x="273728" y="195083"/>
                      <a:pt x="611389" y="195083"/>
                    </a:cubicBezTo>
                    <a:cubicBezTo>
                      <a:pt x="949049" y="195083"/>
                      <a:pt x="1222777" y="151412"/>
                      <a:pt x="1222777" y="97542"/>
                    </a:cubicBezTo>
                    <a:cubicBezTo>
                      <a:pt x="1222777" y="43671"/>
                      <a:pt x="949049" y="0"/>
                      <a:pt x="611389" y="0"/>
                    </a:cubicBez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114635" y="-86486"/>
                <a:ext cx="993506" cy="263280"/>
              </a:xfrm>
              <a:prstGeom prst="rect">
                <a:avLst/>
              </a:prstGeom>
            </p:spPr>
            <p:txBody>
              <a:bodyPr lIns="26511" tIns="26511" rIns="26511" bIns="26511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14516302" y="1818628"/>
            <a:ext cx="3048116" cy="2515950"/>
            <a:chOff x="0" y="0"/>
            <a:chExt cx="4064154" cy="3354600"/>
          </a:xfrm>
        </p:grpSpPr>
        <p:grpSp>
          <p:nvGrpSpPr>
            <p:cNvPr id="89" name="Group 89"/>
            <p:cNvGrpSpPr/>
            <p:nvPr/>
          </p:nvGrpSpPr>
          <p:grpSpPr>
            <a:xfrm>
              <a:off x="0" y="0"/>
              <a:ext cx="4064154" cy="3354600"/>
              <a:chOff x="0" y="0"/>
              <a:chExt cx="790783" cy="652721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790783" cy="652721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652721">
                    <a:moveTo>
                      <a:pt x="395391" y="0"/>
                    </a:moveTo>
                    <a:cubicBezTo>
                      <a:pt x="177023" y="0"/>
                      <a:pt x="0" y="146117"/>
                      <a:pt x="0" y="326361"/>
                    </a:cubicBezTo>
                    <a:cubicBezTo>
                      <a:pt x="0" y="506605"/>
                      <a:pt x="177023" y="652721"/>
                      <a:pt x="395391" y="652721"/>
                    </a:cubicBezTo>
                    <a:cubicBezTo>
                      <a:pt x="613760" y="652721"/>
                      <a:pt x="790783" y="506605"/>
                      <a:pt x="790783" y="326361"/>
                    </a:cubicBezTo>
                    <a:cubicBezTo>
                      <a:pt x="790783" y="146117"/>
                      <a:pt x="613760" y="0"/>
                      <a:pt x="395391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74136" y="-43582"/>
                <a:ext cx="642511" cy="635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0" y="0"/>
              <a:ext cx="4064154" cy="3354600"/>
              <a:chOff x="0" y="0"/>
              <a:chExt cx="790783" cy="652721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790783" cy="652721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652721">
                    <a:moveTo>
                      <a:pt x="395391" y="0"/>
                    </a:moveTo>
                    <a:cubicBezTo>
                      <a:pt x="177023" y="0"/>
                      <a:pt x="0" y="146117"/>
                      <a:pt x="0" y="326361"/>
                    </a:cubicBezTo>
                    <a:cubicBezTo>
                      <a:pt x="0" y="506605"/>
                      <a:pt x="177023" y="652721"/>
                      <a:pt x="395391" y="652721"/>
                    </a:cubicBezTo>
                    <a:cubicBezTo>
                      <a:pt x="613760" y="652721"/>
                      <a:pt x="790783" y="506605"/>
                      <a:pt x="790783" y="326361"/>
                    </a:cubicBezTo>
                    <a:cubicBezTo>
                      <a:pt x="790783" y="146117"/>
                      <a:pt x="613760" y="0"/>
                      <a:pt x="395391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74136" y="-43582"/>
                <a:ext cx="642511" cy="635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sp>
          <p:nvSpPr>
            <p:cNvPr id="95" name="TextBox 95"/>
            <p:cNvSpPr txBox="1"/>
            <p:nvPr/>
          </p:nvSpPr>
          <p:spPr>
            <a:xfrm>
              <a:off x="218650" y="1278943"/>
              <a:ext cx="3626854" cy="739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</a:pPr>
              <a:r>
                <a:rPr lang="en-US" sz="1979" b="1">
                  <a:solidFill>
                    <a:srgbClr val="020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Power BI Dashboard</a:t>
              </a:r>
            </a:p>
            <a:p>
              <a:pPr algn="ctr">
                <a:lnSpc>
                  <a:spcPts val="1708"/>
                </a:lnSpc>
              </a:pPr>
              <a:endParaRPr lang="en-US" sz="197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0895805" y="2454496"/>
            <a:ext cx="3048116" cy="2515950"/>
            <a:chOff x="0" y="0"/>
            <a:chExt cx="4064154" cy="3354600"/>
          </a:xfrm>
        </p:grpSpPr>
        <p:grpSp>
          <p:nvGrpSpPr>
            <p:cNvPr id="97" name="Group 97"/>
            <p:cNvGrpSpPr/>
            <p:nvPr/>
          </p:nvGrpSpPr>
          <p:grpSpPr>
            <a:xfrm>
              <a:off x="0" y="0"/>
              <a:ext cx="4064154" cy="3354600"/>
              <a:chOff x="0" y="0"/>
              <a:chExt cx="790783" cy="652721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790783" cy="652721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652721">
                    <a:moveTo>
                      <a:pt x="395391" y="0"/>
                    </a:moveTo>
                    <a:cubicBezTo>
                      <a:pt x="177023" y="0"/>
                      <a:pt x="0" y="146117"/>
                      <a:pt x="0" y="326361"/>
                    </a:cubicBezTo>
                    <a:cubicBezTo>
                      <a:pt x="0" y="506605"/>
                      <a:pt x="177023" y="652721"/>
                      <a:pt x="395391" y="652721"/>
                    </a:cubicBezTo>
                    <a:cubicBezTo>
                      <a:pt x="613760" y="652721"/>
                      <a:pt x="790783" y="506605"/>
                      <a:pt x="790783" y="326361"/>
                    </a:cubicBezTo>
                    <a:cubicBezTo>
                      <a:pt x="790783" y="146117"/>
                      <a:pt x="613760" y="0"/>
                      <a:pt x="395391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4136" y="-43582"/>
                <a:ext cx="642511" cy="635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0" y="0"/>
              <a:ext cx="4064154" cy="3354600"/>
              <a:chOff x="0" y="0"/>
              <a:chExt cx="790783" cy="652721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790783" cy="652721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652721">
                    <a:moveTo>
                      <a:pt x="395391" y="0"/>
                    </a:moveTo>
                    <a:cubicBezTo>
                      <a:pt x="177023" y="0"/>
                      <a:pt x="0" y="146117"/>
                      <a:pt x="0" y="326361"/>
                    </a:cubicBezTo>
                    <a:cubicBezTo>
                      <a:pt x="0" y="506605"/>
                      <a:pt x="177023" y="652721"/>
                      <a:pt x="395391" y="652721"/>
                    </a:cubicBezTo>
                    <a:cubicBezTo>
                      <a:pt x="613760" y="652721"/>
                      <a:pt x="790783" y="506605"/>
                      <a:pt x="790783" y="326361"/>
                    </a:cubicBezTo>
                    <a:cubicBezTo>
                      <a:pt x="790783" y="146117"/>
                      <a:pt x="613760" y="0"/>
                      <a:pt x="395391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74136" y="-43582"/>
                <a:ext cx="642511" cy="635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sp>
          <p:nvSpPr>
            <p:cNvPr id="103" name="TextBox 103"/>
            <p:cNvSpPr txBox="1"/>
            <p:nvPr/>
          </p:nvSpPr>
          <p:spPr>
            <a:xfrm>
              <a:off x="218650" y="1278943"/>
              <a:ext cx="3626854" cy="739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</a:pPr>
              <a:r>
                <a:rPr lang="en-US" sz="1979" b="1">
                  <a:solidFill>
                    <a:srgbClr val="020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ML Forecasting</a:t>
              </a:r>
            </a:p>
            <a:p>
              <a:pPr algn="ctr">
                <a:lnSpc>
                  <a:spcPts val="1708"/>
                </a:lnSpc>
              </a:pPr>
              <a:endParaRPr lang="en-US" sz="197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104" name="Freeform 104"/>
          <p:cNvSpPr/>
          <p:nvPr/>
        </p:nvSpPr>
        <p:spPr>
          <a:xfrm>
            <a:off x="15486971" y="8623648"/>
            <a:ext cx="3104224" cy="369168"/>
          </a:xfrm>
          <a:custGeom>
            <a:avLst/>
            <a:gdLst/>
            <a:ahLst/>
            <a:cxnLst/>
            <a:rect l="l" t="t" r="r" b="b"/>
            <a:pathLst>
              <a:path w="3104224" h="369168">
                <a:moveTo>
                  <a:pt x="0" y="0"/>
                </a:moveTo>
                <a:lnTo>
                  <a:pt x="3104224" y="0"/>
                </a:lnTo>
                <a:lnTo>
                  <a:pt x="3104224" y="369168"/>
                </a:lnTo>
                <a:lnTo>
                  <a:pt x="0" y="369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5" name="Freeform 105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338" b="-8547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581363">
            <a:off x="13188213" y="-3820118"/>
            <a:ext cx="8727436" cy="7640236"/>
            <a:chOff x="0" y="0"/>
            <a:chExt cx="92846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8461" cy="812800"/>
            </a:xfrm>
            <a:custGeom>
              <a:avLst/>
              <a:gdLst/>
              <a:ahLst/>
              <a:cxnLst/>
              <a:rect l="l" t="t" r="r" b="b"/>
              <a:pathLst>
                <a:path w="928461" h="812800">
                  <a:moveTo>
                    <a:pt x="464230" y="0"/>
                  </a:moveTo>
                  <a:cubicBezTo>
                    <a:pt x="207843" y="0"/>
                    <a:pt x="0" y="181951"/>
                    <a:pt x="0" y="406400"/>
                  </a:cubicBezTo>
                  <a:cubicBezTo>
                    <a:pt x="0" y="630849"/>
                    <a:pt x="207843" y="812800"/>
                    <a:pt x="464230" y="812800"/>
                  </a:cubicBezTo>
                  <a:cubicBezTo>
                    <a:pt x="720618" y="812800"/>
                    <a:pt x="928461" y="630849"/>
                    <a:pt x="928461" y="406400"/>
                  </a:cubicBezTo>
                  <a:cubicBezTo>
                    <a:pt x="928461" y="181951"/>
                    <a:pt x="720618" y="0"/>
                    <a:pt x="46423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7043" y="-28575"/>
              <a:ext cx="754374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60645" y="3388028"/>
            <a:ext cx="18215229" cy="5125877"/>
            <a:chOff x="0" y="0"/>
            <a:chExt cx="24286972" cy="683450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4286972" cy="6834503"/>
              <a:chOff x="0" y="0"/>
              <a:chExt cx="3997793" cy="112500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997793" cy="1125003"/>
              </a:xfrm>
              <a:custGeom>
                <a:avLst/>
                <a:gdLst/>
                <a:ahLst/>
                <a:cxnLst/>
                <a:rect l="l" t="t" r="r" b="b"/>
                <a:pathLst>
                  <a:path w="3997793" h="1125003">
                    <a:moveTo>
                      <a:pt x="11382" y="0"/>
                    </a:moveTo>
                    <a:lnTo>
                      <a:pt x="3986411" y="0"/>
                    </a:lnTo>
                    <a:cubicBezTo>
                      <a:pt x="3989430" y="0"/>
                      <a:pt x="3992325" y="1199"/>
                      <a:pt x="3994460" y="3334"/>
                    </a:cubicBezTo>
                    <a:cubicBezTo>
                      <a:pt x="3996594" y="5468"/>
                      <a:pt x="3997793" y="8363"/>
                      <a:pt x="3997793" y="11382"/>
                    </a:cubicBezTo>
                    <a:lnTo>
                      <a:pt x="3997793" y="1113622"/>
                    </a:lnTo>
                    <a:cubicBezTo>
                      <a:pt x="3997793" y="1116640"/>
                      <a:pt x="3996594" y="1119535"/>
                      <a:pt x="3994460" y="1121670"/>
                    </a:cubicBezTo>
                    <a:cubicBezTo>
                      <a:pt x="3992325" y="1123804"/>
                      <a:pt x="3989430" y="1125003"/>
                      <a:pt x="3986411" y="1125003"/>
                    </a:cubicBezTo>
                    <a:lnTo>
                      <a:pt x="11382" y="1125003"/>
                    </a:lnTo>
                    <a:cubicBezTo>
                      <a:pt x="8363" y="1125003"/>
                      <a:pt x="5468" y="1123804"/>
                      <a:pt x="3334" y="1121670"/>
                    </a:cubicBezTo>
                    <a:cubicBezTo>
                      <a:pt x="1199" y="1119535"/>
                      <a:pt x="0" y="1116640"/>
                      <a:pt x="0" y="1113622"/>
                    </a:cubicBezTo>
                    <a:lnTo>
                      <a:pt x="0" y="11382"/>
                    </a:lnTo>
                    <a:cubicBezTo>
                      <a:pt x="0" y="8363"/>
                      <a:pt x="1199" y="5468"/>
                      <a:pt x="3334" y="3334"/>
                    </a:cubicBezTo>
                    <a:cubicBezTo>
                      <a:pt x="5468" y="1199"/>
                      <a:pt x="8363" y="0"/>
                      <a:pt x="11382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04775"/>
                <a:ext cx="3997793" cy="1229778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4286972" cy="6834503"/>
              <a:chOff x="0" y="0"/>
              <a:chExt cx="3997793" cy="112500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997793" cy="1125003"/>
              </a:xfrm>
              <a:custGeom>
                <a:avLst/>
                <a:gdLst/>
                <a:ahLst/>
                <a:cxnLst/>
                <a:rect l="l" t="t" r="r" b="b"/>
                <a:pathLst>
                  <a:path w="3997793" h="1125003">
                    <a:moveTo>
                      <a:pt x="11382" y="0"/>
                    </a:moveTo>
                    <a:lnTo>
                      <a:pt x="3986411" y="0"/>
                    </a:lnTo>
                    <a:cubicBezTo>
                      <a:pt x="3989430" y="0"/>
                      <a:pt x="3992325" y="1199"/>
                      <a:pt x="3994460" y="3334"/>
                    </a:cubicBezTo>
                    <a:cubicBezTo>
                      <a:pt x="3996594" y="5468"/>
                      <a:pt x="3997793" y="8363"/>
                      <a:pt x="3997793" y="11382"/>
                    </a:cubicBezTo>
                    <a:lnTo>
                      <a:pt x="3997793" y="1113622"/>
                    </a:lnTo>
                    <a:cubicBezTo>
                      <a:pt x="3997793" y="1116640"/>
                      <a:pt x="3996594" y="1119535"/>
                      <a:pt x="3994460" y="1121670"/>
                    </a:cubicBezTo>
                    <a:cubicBezTo>
                      <a:pt x="3992325" y="1123804"/>
                      <a:pt x="3989430" y="1125003"/>
                      <a:pt x="3986411" y="1125003"/>
                    </a:cubicBezTo>
                    <a:lnTo>
                      <a:pt x="11382" y="1125003"/>
                    </a:lnTo>
                    <a:cubicBezTo>
                      <a:pt x="8363" y="1125003"/>
                      <a:pt x="5468" y="1123804"/>
                      <a:pt x="3334" y="1121670"/>
                    </a:cubicBezTo>
                    <a:cubicBezTo>
                      <a:pt x="1199" y="1119535"/>
                      <a:pt x="0" y="1116640"/>
                      <a:pt x="0" y="1113622"/>
                    </a:cubicBezTo>
                    <a:lnTo>
                      <a:pt x="0" y="11382"/>
                    </a:lnTo>
                    <a:cubicBezTo>
                      <a:pt x="0" y="8363"/>
                      <a:pt x="1199" y="5468"/>
                      <a:pt x="3334" y="3334"/>
                    </a:cubicBezTo>
                    <a:cubicBezTo>
                      <a:pt x="5468" y="1199"/>
                      <a:pt x="8363" y="0"/>
                      <a:pt x="11382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04775"/>
                <a:ext cx="3997793" cy="1229778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2963189" y="6250130"/>
            <a:ext cx="635508" cy="63550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34DF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828129" y="4917156"/>
            <a:ext cx="635508" cy="63550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93640" y="1038225"/>
            <a:ext cx="6755034" cy="77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 Modeling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28009" y="1921287"/>
            <a:ext cx="5420665" cy="45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642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The Foundation of Analytics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00614" y="4517106"/>
            <a:ext cx="4487386" cy="103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197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Fact Table</a:t>
            </a:r>
          </a:p>
          <a:p>
            <a:pPr algn="l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Central table capturing key transactional data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937017" y="6192980"/>
            <a:ext cx="4487386" cy="103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197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Dimension Tables</a:t>
            </a:r>
          </a:p>
          <a:p>
            <a:pPr algn="l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Provide descriptive attributes for the fact table, </a:t>
            </a:r>
          </a:p>
        </p:txBody>
      </p:sp>
      <p:sp>
        <p:nvSpPr>
          <p:cNvPr id="22" name="Freeform 22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8" b="-8547"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5395078" y="-2500860"/>
            <a:ext cx="10366134" cy="13557166"/>
            <a:chOff x="0" y="0"/>
            <a:chExt cx="4880610" cy="63830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54F6">
                    <a:alpha val="10000"/>
                  </a:srgbClr>
                </a:gs>
                <a:gs pos="100000">
                  <a:srgbClr val="FEDAF3">
                    <a:alpha val="1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</p:grpSp>
      <p:sp>
        <p:nvSpPr>
          <p:cNvPr id="25" name="Freeform 25"/>
          <p:cNvSpPr/>
          <p:nvPr/>
        </p:nvSpPr>
        <p:spPr>
          <a:xfrm>
            <a:off x="893640" y="3388028"/>
            <a:ext cx="10861628" cy="5622662"/>
          </a:xfrm>
          <a:custGeom>
            <a:avLst/>
            <a:gdLst/>
            <a:ahLst/>
            <a:cxnLst/>
            <a:rect l="l" t="t" r="r" b="b"/>
            <a:pathLst>
              <a:path w="10861628" h="5622662">
                <a:moveTo>
                  <a:pt x="0" y="0"/>
                </a:moveTo>
                <a:lnTo>
                  <a:pt x="10861628" y="0"/>
                </a:lnTo>
                <a:lnTo>
                  <a:pt x="10861628" y="5622662"/>
                </a:lnTo>
                <a:lnTo>
                  <a:pt x="0" y="5622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3" t="-3630" r="-2504" b="-4403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43540" y="-2463624"/>
            <a:ext cx="10366134" cy="13557166"/>
            <a:chOff x="0" y="0"/>
            <a:chExt cx="4880610" cy="6383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54F6">
                    <a:alpha val="10000"/>
                  </a:srgbClr>
                </a:gs>
                <a:gs pos="100000">
                  <a:srgbClr val="FEDAF3">
                    <a:alpha val="1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794770" y="3319197"/>
            <a:ext cx="10886193" cy="3887625"/>
            <a:chOff x="0" y="0"/>
            <a:chExt cx="14514924" cy="51835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4514924" cy="5183500"/>
              <a:chOff x="0" y="0"/>
              <a:chExt cx="1454125" cy="51929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54125" cy="519290"/>
              </a:xfrm>
              <a:custGeom>
                <a:avLst/>
                <a:gdLst/>
                <a:ahLst/>
                <a:cxnLst/>
                <a:rect l="l" t="t" r="r" b="b"/>
                <a:pathLst>
                  <a:path w="1454125" h="519290">
                    <a:moveTo>
                      <a:pt x="31291" y="0"/>
                    </a:moveTo>
                    <a:lnTo>
                      <a:pt x="1422833" y="0"/>
                    </a:lnTo>
                    <a:cubicBezTo>
                      <a:pt x="1431132" y="0"/>
                      <a:pt x="1439092" y="3297"/>
                      <a:pt x="1444960" y="9165"/>
                    </a:cubicBezTo>
                    <a:cubicBezTo>
                      <a:pt x="1450828" y="15033"/>
                      <a:pt x="1454125" y="22992"/>
                      <a:pt x="1454125" y="31291"/>
                    </a:cubicBezTo>
                    <a:lnTo>
                      <a:pt x="1454125" y="487999"/>
                    </a:lnTo>
                    <a:cubicBezTo>
                      <a:pt x="1454125" y="496298"/>
                      <a:pt x="1450828" y="504257"/>
                      <a:pt x="1444960" y="510125"/>
                    </a:cubicBezTo>
                    <a:cubicBezTo>
                      <a:pt x="1439092" y="515993"/>
                      <a:pt x="1431132" y="519290"/>
                      <a:pt x="1422833" y="519290"/>
                    </a:cubicBezTo>
                    <a:lnTo>
                      <a:pt x="31291" y="519290"/>
                    </a:lnTo>
                    <a:cubicBezTo>
                      <a:pt x="22992" y="519290"/>
                      <a:pt x="15033" y="515993"/>
                      <a:pt x="9165" y="510125"/>
                    </a:cubicBezTo>
                    <a:cubicBezTo>
                      <a:pt x="3297" y="504257"/>
                      <a:pt x="0" y="496298"/>
                      <a:pt x="0" y="487999"/>
                    </a:cubicBezTo>
                    <a:lnTo>
                      <a:pt x="0" y="31291"/>
                    </a:lnTo>
                    <a:cubicBezTo>
                      <a:pt x="0" y="22992"/>
                      <a:pt x="3297" y="15033"/>
                      <a:pt x="9165" y="9165"/>
                    </a:cubicBezTo>
                    <a:cubicBezTo>
                      <a:pt x="15033" y="3297"/>
                      <a:pt x="22992" y="0"/>
                      <a:pt x="31291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104775"/>
                <a:ext cx="1454125" cy="624065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0"/>
              <a:ext cx="14514924" cy="5183500"/>
              <a:chOff x="0" y="0"/>
              <a:chExt cx="1454125" cy="51929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54125" cy="519290"/>
              </a:xfrm>
              <a:custGeom>
                <a:avLst/>
                <a:gdLst/>
                <a:ahLst/>
                <a:cxnLst/>
                <a:rect l="l" t="t" r="r" b="b"/>
                <a:pathLst>
                  <a:path w="1454125" h="519290">
                    <a:moveTo>
                      <a:pt x="31291" y="0"/>
                    </a:moveTo>
                    <a:lnTo>
                      <a:pt x="1422833" y="0"/>
                    </a:lnTo>
                    <a:cubicBezTo>
                      <a:pt x="1431132" y="0"/>
                      <a:pt x="1439092" y="3297"/>
                      <a:pt x="1444960" y="9165"/>
                    </a:cubicBezTo>
                    <a:cubicBezTo>
                      <a:pt x="1450828" y="15033"/>
                      <a:pt x="1454125" y="22992"/>
                      <a:pt x="1454125" y="31291"/>
                    </a:cubicBezTo>
                    <a:lnTo>
                      <a:pt x="1454125" y="487999"/>
                    </a:lnTo>
                    <a:cubicBezTo>
                      <a:pt x="1454125" y="496298"/>
                      <a:pt x="1450828" y="504257"/>
                      <a:pt x="1444960" y="510125"/>
                    </a:cubicBezTo>
                    <a:cubicBezTo>
                      <a:pt x="1439092" y="515993"/>
                      <a:pt x="1431132" y="519290"/>
                      <a:pt x="1422833" y="519290"/>
                    </a:cubicBezTo>
                    <a:lnTo>
                      <a:pt x="31291" y="519290"/>
                    </a:lnTo>
                    <a:cubicBezTo>
                      <a:pt x="22992" y="519290"/>
                      <a:pt x="15033" y="515993"/>
                      <a:pt x="9165" y="510125"/>
                    </a:cubicBezTo>
                    <a:cubicBezTo>
                      <a:pt x="3297" y="504257"/>
                      <a:pt x="0" y="496298"/>
                      <a:pt x="0" y="487999"/>
                    </a:cubicBezTo>
                    <a:lnTo>
                      <a:pt x="0" y="31291"/>
                    </a:lnTo>
                    <a:cubicBezTo>
                      <a:pt x="0" y="22992"/>
                      <a:pt x="3297" y="15033"/>
                      <a:pt x="9165" y="9165"/>
                    </a:cubicBezTo>
                    <a:cubicBezTo>
                      <a:pt x="15033" y="3297"/>
                      <a:pt x="22992" y="0"/>
                      <a:pt x="31291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04775"/>
                <a:ext cx="1454125" cy="624065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11215584" y="4257981"/>
            <a:ext cx="4290076" cy="77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KPI Metrics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56169" y="971550"/>
            <a:ext cx="5143175" cy="172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197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Revenue</a:t>
            </a:r>
          </a:p>
          <a:p>
            <a:pPr algn="l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Overall income generated from all hotel </a:t>
            </a:r>
          </a:p>
          <a:p>
            <a:pPr algn="l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operations.</a:t>
            </a:r>
          </a:p>
          <a:p>
            <a:pPr algn="l">
              <a:lnSpc>
                <a:spcPts val="2771"/>
              </a:lnSpc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71"/>
              </a:lnSpc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836249" y="8115988"/>
            <a:ext cx="5143175" cy="2064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197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Cancellation Rate</a:t>
            </a:r>
          </a:p>
          <a:p>
            <a:pPr algn="l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Percentage of bookings that were canceled. It helps evaluate booking stability and demand reliability.</a:t>
            </a:r>
          </a:p>
          <a:p>
            <a:pPr algn="l">
              <a:lnSpc>
                <a:spcPts val="2771"/>
              </a:lnSpc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71"/>
              </a:lnSpc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656169" y="3262047"/>
            <a:ext cx="5143175" cy="1378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197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Occupancy Rate</a:t>
            </a:r>
          </a:p>
          <a:p>
            <a:pPr algn="l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Percentage of available rooms that are sold.</a:t>
            </a:r>
          </a:p>
          <a:p>
            <a:pPr algn="l">
              <a:lnSpc>
                <a:spcPts val="2771"/>
              </a:lnSpc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028700" y="531319"/>
            <a:ext cx="2135056" cy="213505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r>
                <a:rPr lang="en-US" sz="33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26M</a:t>
              </a:r>
            </a:p>
            <a:p>
              <a:pPr algn="ctr">
                <a:lnSpc>
                  <a:spcPts val="3207"/>
                </a:lnSpc>
              </a:pPr>
              <a:r>
                <a:rPr lang="en-US" sz="197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Revenue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7658685"/>
            <a:ext cx="2135056" cy="213505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2912323"/>
            <a:ext cx="2135056" cy="2135056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r>
                <a:rPr lang="en-US" sz="33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71.17%</a:t>
              </a:r>
            </a:p>
            <a:p>
              <a:pPr algn="ctr">
                <a:lnSpc>
                  <a:spcPts val="3207"/>
                </a:lnSpc>
              </a:pPr>
              <a:r>
                <a:rPr lang="en-US" sz="197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Occupancy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700" y="5285504"/>
            <a:ext cx="2135056" cy="2135056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r>
                <a:rPr lang="en-US" sz="33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102.00 </a:t>
              </a:r>
            </a:p>
            <a:p>
              <a:pPr algn="ctr">
                <a:lnSpc>
                  <a:spcPts val="3207"/>
                </a:lnSpc>
              </a:pPr>
              <a:r>
                <a:rPr lang="en-US" sz="197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ADR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613197" y="8058838"/>
            <a:ext cx="966062" cy="66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4"/>
              </a:lnSpc>
              <a:spcBef>
                <a:spcPct val="0"/>
              </a:spcBef>
            </a:pPr>
            <a:r>
              <a:rPr lang="en-US" sz="3667" b="1">
                <a:solidFill>
                  <a:srgbClr val="F5F3FF"/>
                </a:solidFill>
                <a:latin typeface="Poppins Bold"/>
                <a:ea typeface="Poppins Bold"/>
                <a:cs typeface="Poppins Bold"/>
                <a:sym typeface="Poppins Bold"/>
              </a:rPr>
              <a:t>0.37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61362" y="8804123"/>
            <a:ext cx="1669733" cy="69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Cancellation 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56169" y="5699202"/>
            <a:ext cx="5143175" cy="172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197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ADR (Average Daily Rate)</a:t>
            </a:r>
          </a:p>
          <a:p>
            <a:pPr algn="l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Average rental income per occupied room per day.</a:t>
            </a:r>
          </a:p>
          <a:p>
            <a:pPr algn="l">
              <a:lnSpc>
                <a:spcPts val="2771"/>
              </a:lnSpc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71"/>
              </a:lnSpc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236527" y="5317474"/>
            <a:ext cx="6750266" cy="103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performance indicators measuring hotel occupancy, pricing efficiency, and revenue performance.</a:t>
            </a:r>
          </a:p>
        </p:txBody>
      </p:sp>
      <p:sp>
        <p:nvSpPr>
          <p:cNvPr id="31" name="Freeform 31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8" b="-8547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93937" y="-1624249"/>
            <a:ext cx="10366134" cy="13557166"/>
            <a:chOff x="0" y="0"/>
            <a:chExt cx="4880610" cy="6383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54F6">
                    <a:alpha val="10000"/>
                  </a:srgbClr>
                </a:gs>
                <a:gs pos="100000">
                  <a:srgbClr val="FEDAF3">
                    <a:alpha val="1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1706831" y="4213484"/>
            <a:ext cx="6247893" cy="2184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Occupancy </a:t>
            </a:r>
          </a:p>
          <a:p>
            <a:pPr algn="l">
              <a:lnSpc>
                <a:spcPts val="5615"/>
              </a:lnSpc>
            </a:pPr>
            <a:r>
              <a:rPr lang="en-US" sz="5199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Trend Analysis</a:t>
            </a:r>
          </a:p>
          <a:p>
            <a:pPr algn="l">
              <a:lnSpc>
                <a:spcPts val="5615"/>
              </a:lnSpc>
            </a:pPr>
            <a:endParaRPr lang="en-US" sz="5199" b="1">
              <a:solidFill>
                <a:srgbClr val="02044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28700" y="308379"/>
            <a:ext cx="9724587" cy="4650504"/>
            <a:chOff x="0" y="0"/>
            <a:chExt cx="12966116" cy="6200672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2966116" cy="6200672"/>
              <a:chOff x="0" y="0"/>
              <a:chExt cx="1243201" cy="59452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243201" cy="594525"/>
              </a:xfrm>
              <a:custGeom>
                <a:avLst/>
                <a:gdLst/>
                <a:ahLst/>
                <a:cxnLst/>
                <a:rect l="l" t="t" r="r" b="b"/>
                <a:pathLst>
                  <a:path w="1243201" h="594525">
                    <a:moveTo>
                      <a:pt x="36600" y="0"/>
                    </a:moveTo>
                    <a:lnTo>
                      <a:pt x="1206601" y="0"/>
                    </a:lnTo>
                    <a:cubicBezTo>
                      <a:pt x="1226815" y="0"/>
                      <a:pt x="1243201" y="16387"/>
                      <a:pt x="1243201" y="36600"/>
                    </a:cubicBezTo>
                    <a:lnTo>
                      <a:pt x="1243201" y="557925"/>
                    </a:lnTo>
                    <a:cubicBezTo>
                      <a:pt x="1243201" y="578139"/>
                      <a:pt x="1226815" y="594525"/>
                      <a:pt x="1206601" y="594525"/>
                    </a:cubicBezTo>
                    <a:lnTo>
                      <a:pt x="36600" y="594525"/>
                    </a:lnTo>
                    <a:cubicBezTo>
                      <a:pt x="16387" y="594525"/>
                      <a:pt x="0" y="578139"/>
                      <a:pt x="0" y="557925"/>
                    </a:cubicBezTo>
                    <a:lnTo>
                      <a:pt x="0" y="36600"/>
                    </a:lnTo>
                    <a:cubicBezTo>
                      <a:pt x="0" y="16387"/>
                      <a:pt x="16387" y="0"/>
                      <a:pt x="36600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04775"/>
                <a:ext cx="1243201" cy="699300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12966116" cy="6200672"/>
              <a:chOff x="0" y="0"/>
              <a:chExt cx="1243201" cy="5945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43201" cy="594525"/>
              </a:xfrm>
              <a:custGeom>
                <a:avLst/>
                <a:gdLst/>
                <a:ahLst/>
                <a:cxnLst/>
                <a:rect l="l" t="t" r="r" b="b"/>
                <a:pathLst>
                  <a:path w="1243201" h="594525">
                    <a:moveTo>
                      <a:pt x="36600" y="0"/>
                    </a:moveTo>
                    <a:lnTo>
                      <a:pt x="1206601" y="0"/>
                    </a:lnTo>
                    <a:cubicBezTo>
                      <a:pt x="1226815" y="0"/>
                      <a:pt x="1243201" y="16387"/>
                      <a:pt x="1243201" y="36600"/>
                    </a:cubicBezTo>
                    <a:lnTo>
                      <a:pt x="1243201" y="557925"/>
                    </a:lnTo>
                    <a:cubicBezTo>
                      <a:pt x="1243201" y="578139"/>
                      <a:pt x="1226815" y="594525"/>
                      <a:pt x="1206601" y="594525"/>
                    </a:cubicBezTo>
                    <a:lnTo>
                      <a:pt x="36600" y="594525"/>
                    </a:lnTo>
                    <a:cubicBezTo>
                      <a:pt x="16387" y="594525"/>
                      <a:pt x="0" y="578139"/>
                      <a:pt x="0" y="557925"/>
                    </a:cubicBezTo>
                    <a:lnTo>
                      <a:pt x="0" y="36600"/>
                    </a:lnTo>
                    <a:cubicBezTo>
                      <a:pt x="0" y="16387"/>
                      <a:pt x="16387" y="0"/>
                      <a:pt x="36600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04775"/>
                <a:ext cx="1243201" cy="699300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-917670" y="7109885"/>
            <a:ext cx="1982131" cy="198213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51" y="-159445"/>
            <a:ext cx="10696888" cy="5739524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1028700" y="5300858"/>
            <a:ext cx="9724587" cy="4824288"/>
            <a:chOff x="0" y="0"/>
            <a:chExt cx="12966116" cy="643238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2966116" cy="6432383"/>
              <a:chOff x="0" y="0"/>
              <a:chExt cx="1243201" cy="61674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243201" cy="616742"/>
              </a:xfrm>
              <a:custGeom>
                <a:avLst/>
                <a:gdLst/>
                <a:ahLst/>
                <a:cxnLst/>
                <a:rect l="l" t="t" r="r" b="b"/>
                <a:pathLst>
                  <a:path w="1243201" h="616742">
                    <a:moveTo>
                      <a:pt x="36600" y="0"/>
                    </a:moveTo>
                    <a:lnTo>
                      <a:pt x="1206601" y="0"/>
                    </a:lnTo>
                    <a:cubicBezTo>
                      <a:pt x="1226815" y="0"/>
                      <a:pt x="1243201" y="16387"/>
                      <a:pt x="1243201" y="36600"/>
                    </a:cubicBezTo>
                    <a:lnTo>
                      <a:pt x="1243201" y="580142"/>
                    </a:lnTo>
                    <a:cubicBezTo>
                      <a:pt x="1243201" y="589849"/>
                      <a:pt x="1239345" y="599158"/>
                      <a:pt x="1232481" y="606022"/>
                    </a:cubicBezTo>
                    <a:cubicBezTo>
                      <a:pt x="1225618" y="612886"/>
                      <a:pt x="1216308" y="616742"/>
                      <a:pt x="1206601" y="616742"/>
                    </a:cubicBezTo>
                    <a:lnTo>
                      <a:pt x="36600" y="616742"/>
                    </a:lnTo>
                    <a:cubicBezTo>
                      <a:pt x="16387" y="616742"/>
                      <a:pt x="0" y="600356"/>
                      <a:pt x="0" y="580142"/>
                    </a:cubicBezTo>
                    <a:lnTo>
                      <a:pt x="0" y="36600"/>
                    </a:lnTo>
                    <a:cubicBezTo>
                      <a:pt x="0" y="16387"/>
                      <a:pt x="16387" y="0"/>
                      <a:pt x="36600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104775"/>
                <a:ext cx="1243201" cy="721517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12966116" cy="6432383"/>
              <a:chOff x="0" y="0"/>
              <a:chExt cx="1243201" cy="61674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243201" cy="616742"/>
              </a:xfrm>
              <a:custGeom>
                <a:avLst/>
                <a:gdLst/>
                <a:ahLst/>
                <a:cxnLst/>
                <a:rect l="l" t="t" r="r" b="b"/>
                <a:pathLst>
                  <a:path w="1243201" h="616742">
                    <a:moveTo>
                      <a:pt x="36600" y="0"/>
                    </a:moveTo>
                    <a:lnTo>
                      <a:pt x="1206601" y="0"/>
                    </a:lnTo>
                    <a:cubicBezTo>
                      <a:pt x="1226815" y="0"/>
                      <a:pt x="1243201" y="16387"/>
                      <a:pt x="1243201" y="36600"/>
                    </a:cubicBezTo>
                    <a:lnTo>
                      <a:pt x="1243201" y="580142"/>
                    </a:lnTo>
                    <a:cubicBezTo>
                      <a:pt x="1243201" y="589849"/>
                      <a:pt x="1239345" y="599158"/>
                      <a:pt x="1232481" y="606022"/>
                    </a:cubicBezTo>
                    <a:cubicBezTo>
                      <a:pt x="1225618" y="612886"/>
                      <a:pt x="1216308" y="616742"/>
                      <a:pt x="1206601" y="616742"/>
                    </a:cubicBezTo>
                    <a:lnTo>
                      <a:pt x="36600" y="616742"/>
                    </a:lnTo>
                    <a:cubicBezTo>
                      <a:pt x="16387" y="616742"/>
                      <a:pt x="0" y="600356"/>
                      <a:pt x="0" y="580142"/>
                    </a:cubicBezTo>
                    <a:lnTo>
                      <a:pt x="0" y="36600"/>
                    </a:lnTo>
                    <a:cubicBezTo>
                      <a:pt x="0" y="16387"/>
                      <a:pt x="16387" y="0"/>
                      <a:pt x="36600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104775"/>
                <a:ext cx="1243201" cy="721517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5" y="4754301"/>
            <a:ext cx="11293392" cy="6184244"/>
          </a:xfrm>
          <a:prstGeom prst="rect">
            <a:avLst/>
          </a:prstGeom>
        </p:spPr>
      </p:pic>
      <p:sp>
        <p:nvSpPr>
          <p:cNvPr id="24" name="Freeform 24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338" b="-8547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71058" y="-1635083"/>
            <a:ext cx="10366134" cy="13557166"/>
            <a:chOff x="0" y="0"/>
            <a:chExt cx="4880610" cy="6383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54F6">
                    <a:alpha val="10000"/>
                  </a:srgbClr>
                </a:gs>
                <a:gs pos="100000">
                  <a:srgbClr val="FEDAF3">
                    <a:alpha val="1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028700" y="537902"/>
            <a:ext cx="7874768" cy="1479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Revenue Performance: ADR &amp; RevPAR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24267"/>
            <a:ext cx="6832495" cy="235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17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ADR (Average Daily Rate)</a:t>
            </a:r>
            <a:r>
              <a:rPr lang="en-US" sz="2217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3104"/>
              </a:lnSpc>
            </a:pPr>
            <a:r>
              <a:rPr lang="en-US" sz="2217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Focuses on the price achieved per sold room. </a:t>
            </a:r>
          </a:p>
          <a:p>
            <a:pPr algn="l">
              <a:lnSpc>
                <a:spcPts val="3104"/>
              </a:lnSpc>
            </a:pPr>
            <a:endParaRPr lang="en-US" sz="2217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104"/>
              </a:lnSpc>
            </a:pPr>
            <a:endParaRPr lang="en-US" sz="2217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104"/>
              </a:lnSpc>
            </a:pPr>
            <a:endParaRPr lang="en-US" sz="2217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104"/>
              </a:lnSpc>
            </a:pPr>
            <a:endParaRPr lang="en-US" sz="2217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3265470" y="4119260"/>
            <a:ext cx="11275996" cy="5139040"/>
            <a:chOff x="0" y="0"/>
            <a:chExt cx="15034661" cy="6852054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5034661" cy="6852054"/>
              <a:chOff x="0" y="0"/>
              <a:chExt cx="1506193" cy="68644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506193" cy="686448"/>
              </a:xfrm>
              <a:custGeom>
                <a:avLst/>
                <a:gdLst/>
                <a:ahLst/>
                <a:cxnLst/>
                <a:rect l="l" t="t" r="r" b="b"/>
                <a:pathLst>
                  <a:path w="1506193" h="686448">
                    <a:moveTo>
                      <a:pt x="30210" y="0"/>
                    </a:moveTo>
                    <a:lnTo>
                      <a:pt x="1475983" y="0"/>
                    </a:lnTo>
                    <a:cubicBezTo>
                      <a:pt x="1492667" y="0"/>
                      <a:pt x="1506193" y="13525"/>
                      <a:pt x="1506193" y="30210"/>
                    </a:cubicBezTo>
                    <a:lnTo>
                      <a:pt x="1506193" y="656238"/>
                    </a:lnTo>
                    <a:cubicBezTo>
                      <a:pt x="1506193" y="672923"/>
                      <a:pt x="1492667" y="686448"/>
                      <a:pt x="1475983" y="686448"/>
                    </a:cubicBezTo>
                    <a:lnTo>
                      <a:pt x="30210" y="686448"/>
                    </a:lnTo>
                    <a:cubicBezTo>
                      <a:pt x="13525" y="686448"/>
                      <a:pt x="0" y="672923"/>
                      <a:pt x="0" y="656238"/>
                    </a:cubicBezTo>
                    <a:lnTo>
                      <a:pt x="0" y="30210"/>
                    </a:lnTo>
                    <a:cubicBezTo>
                      <a:pt x="0" y="13525"/>
                      <a:pt x="13525" y="0"/>
                      <a:pt x="30210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04775"/>
                <a:ext cx="1506193" cy="791223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15034661" cy="6852054"/>
              <a:chOff x="0" y="0"/>
              <a:chExt cx="1506193" cy="68644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06193" cy="686448"/>
              </a:xfrm>
              <a:custGeom>
                <a:avLst/>
                <a:gdLst/>
                <a:ahLst/>
                <a:cxnLst/>
                <a:rect l="l" t="t" r="r" b="b"/>
                <a:pathLst>
                  <a:path w="1506193" h="686448">
                    <a:moveTo>
                      <a:pt x="30210" y="0"/>
                    </a:moveTo>
                    <a:lnTo>
                      <a:pt x="1475983" y="0"/>
                    </a:lnTo>
                    <a:cubicBezTo>
                      <a:pt x="1492667" y="0"/>
                      <a:pt x="1506193" y="13525"/>
                      <a:pt x="1506193" y="30210"/>
                    </a:cubicBezTo>
                    <a:lnTo>
                      <a:pt x="1506193" y="656238"/>
                    </a:lnTo>
                    <a:cubicBezTo>
                      <a:pt x="1506193" y="672923"/>
                      <a:pt x="1492667" y="686448"/>
                      <a:pt x="1475983" y="686448"/>
                    </a:cubicBezTo>
                    <a:lnTo>
                      <a:pt x="30210" y="686448"/>
                    </a:lnTo>
                    <a:cubicBezTo>
                      <a:pt x="13525" y="686448"/>
                      <a:pt x="0" y="672923"/>
                      <a:pt x="0" y="656238"/>
                    </a:cubicBezTo>
                    <a:lnTo>
                      <a:pt x="0" y="30210"/>
                    </a:lnTo>
                    <a:cubicBezTo>
                      <a:pt x="0" y="13525"/>
                      <a:pt x="13525" y="0"/>
                      <a:pt x="30210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04775"/>
                <a:ext cx="1506193" cy="791223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9492475" y="2495692"/>
            <a:ext cx="7494318" cy="1099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1"/>
              </a:lnSpc>
              <a:spcBef>
                <a:spcPct val="0"/>
              </a:spcBef>
            </a:pPr>
            <a:r>
              <a:rPr lang="en-US" sz="207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RevPAR (Revenue Per Available Room):</a:t>
            </a:r>
            <a:r>
              <a:rPr lang="en-US" sz="20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Combines occupancy and average rate, offering a holistic measure of revenue-generating efficiency.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661" y="3299873"/>
            <a:ext cx="12492432" cy="6777814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28700" y="9486900"/>
            <a:ext cx="14735890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Trends in ADR and RevPAR directly reflect the effectiveness of pricing strategies and demand management over time.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38" b="-8547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19762" y="682482"/>
            <a:ext cx="8465451" cy="2184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Guest Demographics &amp; Segmentation</a:t>
            </a:r>
          </a:p>
          <a:p>
            <a:pPr algn="l">
              <a:lnSpc>
                <a:spcPts val="5615"/>
              </a:lnSpc>
            </a:pPr>
            <a:endParaRPr lang="en-US" sz="5199" b="1">
              <a:solidFill>
                <a:srgbClr val="02044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237078" y="2396601"/>
            <a:ext cx="10148134" cy="103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Understanding who our guests are helps tailor marketing efforts and enhance personalized experiences.</a:t>
            </a:r>
          </a:p>
          <a:p>
            <a:pPr algn="l">
              <a:lnSpc>
                <a:spcPts val="2771"/>
              </a:lnSpc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66345" y="3689334"/>
            <a:ext cx="16155309" cy="5810863"/>
            <a:chOff x="0" y="0"/>
            <a:chExt cx="21540412" cy="7747818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1540412" cy="7747818"/>
              <a:chOff x="0" y="0"/>
              <a:chExt cx="2157948" cy="77618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7948" cy="776187"/>
              </a:xfrm>
              <a:custGeom>
                <a:avLst/>
                <a:gdLst/>
                <a:ahLst/>
                <a:cxnLst/>
                <a:rect l="l" t="t" r="r" b="b"/>
                <a:pathLst>
                  <a:path w="2157948" h="776187">
                    <a:moveTo>
                      <a:pt x="21086" y="0"/>
                    </a:moveTo>
                    <a:lnTo>
                      <a:pt x="2136862" y="0"/>
                    </a:lnTo>
                    <a:cubicBezTo>
                      <a:pt x="2142454" y="0"/>
                      <a:pt x="2147818" y="2222"/>
                      <a:pt x="2151772" y="6176"/>
                    </a:cubicBezTo>
                    <a:cubicBezTo>
                      <a:pt x="2155726" y="10130"/>
                      <a:pt x="2157948" y="15493"/>
                      <a:pt x="2157948" y="21086"/>
                    </a:cubicBezTo>
                    <a:lnTo>
                      <a:pt x="2157948" y="755101"/>
                    </a:lnTo>
                    <a:cubicBezTo>
                      <a:pt x="2157948" y="766747"/>
                      <a:pt x="2148507" y="776187"/>
                      <a:pt x="2136862" y="776187"/>
                    </a:cubicBezTo>
                    <a:lnTo>
                      <a:pt x="21086" y="776187"/>
                    </a:lnTo>
                    <a:cubicBezTo>
                      <a:pt x="9440" y="776187"/>
                      <a:pt x="0" y="766747"/>
                      <a:pt x="0" y="755101"/>
                    </a:cubicBezTo>
                    <a:lnTo>
                      <a:pt x="0" y="21086"/>
                    </a:lnTo>
                    <a:cubicBezTo>
                      <a:pt x="0" y="9440"/>
                      <a:pt x="9440" y="0"/>
                      <a:pt x="21086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104775"/>
                <a:ext cx="2157948" cy="880962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0"/>
              <a:ext cx="21540412" cy="7747818"/>
              <a:chOff x="0" y="0"/>
              <a:chExt cx="2157948" cy="77618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57948" cy="776187"/>
              </a:xfrm>
              <a:custGeom>
                <a:avLst/>
                <a:gdLst/>
                <a:ahLst/>
                <a:cxnLst/>
                <a:rect l="l" t="t" r="r" b="b"/>
                <a:pathLst>
                  <a:path w="2157948" h="776187">
                    <a:moveTo>
                      <a:pt x="21086" y="0"/>
                    </a:moveTo>
                    <a:lnTo>
                      <a:pt x="2136862" y="0"/>
                    </a:lnTo>
                    <a:cubicBezTo>
                      <a:pt x="2142454" y="0"/>
                      <a:pt x="2147818" y="2222"/>
                      <a:pt x="2151772" y="6176"/>
                    </a:cubicBezTo>
                    <a:cubicBezTo>
                      <a:pt x="2155726" y="10130"/>
                      <a:pt x="2157948" y="15493"/>
                      <a:pt x="2157948" y="21086"/>
                    </a:cubicBezTo>
                    <a:lnTo>
                      <a:pt x="2157948" y="755101"/>
                    </a:lnTo>
                    <a:cubicBezTo>
                      <a:pt x="2157948" y="766747"/>
                      <a:pt x="2148507" y="776187"/>
                      <a:pt x="2136862" y="776187"/>
                    </a:cubicBezTo>
                    <a:lnTo>
                      <a:pt x="21086" y="776187"/>
                    </a:lnTo>
                    <a:cubicBezTo>
                      <a:pt x="9440" y="776187"/>
                      <a:pt x="0" y="766747"/>
                      <a:pt x="0" y="755101"/>
                    </a:cubicBezTo>
                    <a:lnTo>
                      <a:pt x="0" y="21086"/>
                    </a:lnTo>
                    <a:cubicBezTo>
                      <a:pt x="0" y="9440"/>
                      <a:pt x="9440" y="0"/>
                      <a:pt x="21086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04775"/>
                <a:ext cx="2157948" cy="880962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2144551" y="4030582"/>
            <a:ext cx="7550422" cy="5071426"/>
            <a:chOff x="0" y="0"/>
            <a:chExt cx="10067229" cy="6761901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140599"/>
              <a:ext cx="4871596" cy="6621302"/>
              <a:chOff x="0" y="0"/>
              <a:chExt cx="962291" cy="13079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62291" cy="1307911"/>
              </a:xfrm>
              <a:custGeom>
                <a:avLst/>
                <a:gdLst/>
                <a:ahLst/>
                <a:cxnLst/>
                <a:rect l="l" t="t" r="r" b="b"/>
                <a:pathLst>
                  <a:path w="962291" h="1307911">
                    <a:moveTo>
                      <a:pt x="211893" y="0"/>
                    </a:moveTo>
                    <a:lnTo>
                      <a:pt x="750398" y="0"/>
                    </a:lnTo>
                    <a:cubicBezTo>
                      <a:pt x="806595" y="0"/>
                      <a:pt x="860491" y="22324"/>
                      <a:pt x="900229" y="62062"/>
                    </a:cubicBezTo>
                    <a:cubicBezTo>
                      <a:pt x="939966" y="101800"/>
                      <a:pt x="962291" y="155695"/>
                      <a:pt x="962291" y="211893"/>
                    </a:cubicBezTo>
                    <a:lnTo>
                      <a:pt x="962291" y="1096019"/>
                    </a:lnTo>
                    <a:cubicBezTo>
                      <a:pt x="962291" y="1152216"/>
                      <a:pt x="939966" y="1206112"/>
                      <a:pt x="900229" y="1245849"/>
                    </a:cubicBezTo>
                    <a:cubicBezTo>
                      <a:pt x="860491" y="1285587"/>
                      <a:pt x="806595" y="1307911"/>
                      <a:pt x="750398" y="1307911"/>
                    </a:cubicBezTo>
                    <a:lnTo>
                      <a:pt x="211893" y="1307911"/>
                    </a:lnTo>
                    <a:cubicBezTo>
                      <a:pt x="94868" y="1307911"/>
                      <a:pt x="0" y="1213044"/>
                      <a:pt x="0" y="1096019"/>
                    </a:cubicBezTo>
                    <a:lnTo>
                      <a:pt x="0" y="211893"/>
                    </a:lnTo>
                    <a:cubicBezTo>
                      <a:pt x="0" y="155695"/>
                      <a:pt x="22324" y="101800"/>
                      <a:pt x="62062" y="62062"/>
                    </a:cubicBezTo>
                    <a:cubicBezTo>
                      <a:pt x="101800" y="22324"/>
                      <a:pt x="155695" y="0"/>
                      <a:pt x="211893" y="0"/>
                    </a:cubicBez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42875"/>
                <a:ext cx="962291" cy="14507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507"/>
                  </a:lnSpc>
                </a:pPr>
                <a:endParaRPr/>
              </a:p>
              <a:p>
                <a:pPr algn="ctr">
                  <a:lnSpc>
                    <a:spcPts val="5507"/>
                  </a:lnSpc>
                </a:pPr>
                <a:r>
                  <a:rPr lang="en-US" sz="33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Country-wise Distribution</a:t>
                </a:r>
              </a:p>
              <a:p>
                <a:pPr algn="ctr">
                  <a:lnSpc>
                    <a:spcPts val="4050"/>
                  </a:lnSpc>
                </a:pPr>
                <a:r>
                  <a:rPr lang="en-US" sz="2500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Identify primary source markets and adjust international outreach.</a:t>
                </a:r>
              </a:p>
              <a:p>
                <a:pPr algn="ctr">
                  <a:lnSpc>
                    <a:spcPts val="5346"/>
                  </a:lnSpc>
                </a:pPr>
                <a:endParaRPr lang="en-US" sz="25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442848" y="0"/>
              <a:ext cx="4419932" cy="6761901"/>
              <a:chOff x="0" y="0"/>
              <a:chExt cx="873073" cy="133568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73073" cy="1335684"/>
              </a:xfrm>
              <a:custGeom>
                <a:avLst/>
                <a:gdLst/>
                <a:ahLst/>
                <a:cxnLst/>
                <a:rect l="l" t="t" r="r" b="b"/>
                <a:pathLst>
                  <a:path w="873073" h="1335684">
                    <a:moveTo>
                      <a:pt x="233546" y="0"/>
                    </a:moveTo>
                    <a:lnTo>
                      <a:pt x="639527" y="0"/>
                    </a:lnTo>
                    <a:cubicBezTo>
                      <a:pt x="768511" y="0"/>
                      <a:pt x="873073" y="104562"/>
                      <a:pt x="873073" y="233546"/>
                    </a:cubicBezTo>
                    <a:lnTo>
                      <a:pt x="873073" y="1102139"/>
                    </a:lnTo>
                    <a:cubicBezTo>
                      <a:pt x="873073" y="1231122"/>
                      <a:pt x="768511" y="1335684"/>
                      <a:pt x="639527" y="1335684"/>
                    </a:cubicBezTo>
                    <a:lnTo>
                      <a:pt x="233546" y="1335684"/>
                    </a:lnTo>
                    <a:cubicBezTo>
                      <a:pt x="104562" y="1335684"/>
                      <a:pt x="0" y="1231122"/>
                      <a:pt x="0" y="1102139"/>
                    </a:cubicBezTo>
                    <a:lnTo>
                      <a:pt x="0" y="233546"/>
                    </a:lnTo>
                    <a:cubicBezTo>
                      <a:pt x="0" y="104562"/>
                      <a:pt x="104562" y="0"/>
                      <a:pt x="233546" y="0"/>
                    </a:cubicBezTo>
                    <a:close/>
                  </a:path>
                </a:pathLst>
              </a:custGeom>
              <a:solidFill>
                <a:srgbClr val="715AC8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142875"/>
                <a:ext cx="873073" cy="147855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507"/>
                  </a:lnSpc>
                </a:pPr>
                <a:endParaRPr/>
              </a:p>
              <a:p>
                <a:pPr algn="ctr">
                  <a:lnSpc>
                    <a:spcPts val="5507"/>
                  </a:lnSpc>
                </a:pPr>
                <a:r>
                  <a:rPr lang="en-US" sz="33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Market Segments</a:t>
                </a:r>
              </a:p>
              <a:p>
                <a:pPr algn="ctr">
                  <a:lnSpc>
                    <a:spcPts val="3888"/>
                  </a:lnSpc>
                </a:pPr>
                <a:r>
                  <a:rPr lang="en-US" sz="2400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Analyze leisure, corporate, group, and other booking types.</a:t>
                </a:r>
              </a:p>
              <a:p>
                <a:pPr algn="ctr">
                  <a:lnSpc>
                    <a:spcPts val="5507"/>
                  </a:lnSpc>
                </a:pPr>
                <a:endPara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endParaRPr>
              </a:p>
              <a:p>
                <a:pPr algn="ctr">
                  <a:lnSpc>
                    <a:spcPts val="5507"/>
                  </a:lnSpc>
                </a:pPr>
                <a:endPara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endParaRP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616817" y="3556555"/>
              <a:ext cx="3450412" cy="447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1"/>
                </a:lnSpc>
              </a:pPr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27608" y="1648391"/>
              <a:ext cx="3450412" cy="447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36163" y="4030582"/>
            <a:ext cx="3361257" cy="5071426"/>
            <a:chOff x="0" y="0"/>
            <a:chExt cx="885269" cy="13356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5269" cy="1335684"/>
            </a:xfrm>
            <a:custGeom>
              <a:avLst/>
              <a:gdLst/>
              <a:ahLst/>
              <a:cxnLst/>
              <a:rect l="l" t="t" r="r" b="b"/>
              <a:pathLst>
                <a:path w="885269" h="1335684">
                  <a:moveTo>
                    <a:pt x="230328" y="0"/>
                  </a:moveTo>
                  <a:lnTo>
                    <a:pt x="654941" y="0"/>
                  </a:lnTo>
                  <a:cubicBezTo>
                    <a:pt x="782148" y="0"/>
                    <a:pt x="885269" y="103121"/>
                    <a:pt x="885269" y="230328"/>
                  </a:cubicBezTo>
                  <a:lnTo>
                    <a:pt x="885269" y="1105356"/>
                  </a:lnTo>
                  <a:cubicBezTo>
                    <a:pt x="885269" y="1166443"/>
                    <a:pt x="861003" y="1225028"/>
                    <a:pt x="817808" y="1268223"/>
                  </a:cubicBezTo>
                  <a:cubicBezTo>
                    <a:pt x="774613" y="1311418"/>
                    <a:pt x="716028" y="1335684"/>
                    <a:pt x="654941" y="1335684"/>
                  </a:cubicBezTo>
                  <a:lnTo>
                    <a:pt x="230328" y="1335684"/>
                  </a:lnTo>
                  <a:cubicBezTo>
                    <a:pt x="169241" y="1335684"/>
                    <a:pt x="110656" y="1311418"/>
                    <a:pt x="67462" y="1268223"/>
                  </a:cubicBezTo>
                  <a:cubicBezTo>
                    <a:pt x="24267" y="1225028"/>
                    <a:pt x="0" y="1166443"/>
                    <a:pt x="0" y="1105356"/>
                  </a:cubicBezTo>
                  <a:lnTo>
                    <a:pt x="0" y="230328"/>
                  </a:lnTo>
                  <a:cubicBezTo>
                    <a:pt x="0" y="169241"/>
                    <a:pt x="24267" y="110656"/>
                    <a:pt x="67462" y="67462"/>
                  </a:cubicBezTo>
                  <a:cubicBezTo>
                    <a:pt x="110656" y="24267"/>
                    <a:pt x="169241" y="0"/>
                    <a:pt x="230328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42875"/>
              <a:ext cx="885269" cy="1478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r>
                <a:rPr lang="en-US" sz="33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Customer Type</a:t>
              </a:r>
            </a:p>
            <a:p>
              <a:pPr algn="ctr">
                <a:lnSpc>
                  <a:spcPts val="5507"/>
                </a:lnSpc>
              </a:pPr>
              <a:endPara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ctr">
                <a:lnSpc>
                  <a:spcPts val="3888"/>
                </a:lnSpc>
              </a:pP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Distinguish between transient, repeat, and new guests.</a:t>
              </a:r>
            </a:p>
            <a:p>
              <a:pPr algn="ctr">
                <a:lnSpc>
                  <a:spcPts val="5507"/>
                </a:lnSpc>
              </a:pPr>
              <a:endPara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740320" y="3959554"/>
            <a:ext cx="3246473" cy="5209129"/>
            <a:chOff x="0" y="-18707"/>
            <a:chExt cx="855038" cy="13719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55038" cy="1353245"/>
            </a:xfrm>
            <a:custGeom>
              <a:avLst/>
              <a:gdLst/>
              <a:ahLst/>
              <a:cxnLst/>
              <a:rect l="l" t="t" r="r" b="b"/>
              <a:pathLst>
                <a:path w="855038" h="1353245">
                  <a:moveTo>
                    <a:pt x="238472" y="0"/>
                  </a:moveTo>
                  <a:lnTo>
                    <a:pt x="616566" y="0"/>
                  </a:lnTo>
                  <a:cubicBezTo>
                    <a:pt x="748271" y="0"/>
                    <a:pt x="855038" y="106767"/>
                    <a:pt x="855038" y="238472"/>
                  </a:cubicBezTo>
                  <a:lnTo>
                    <a:pt x="855038" y="1114773"/>
                  </a:lnTo>
                  <a:cubicBezTo>
                    <a:pt x="855038" y="1246477"/>
                    <a:pt x="748271" y="1353245"/>
                    <a:pt x="616566" y="1353245"/>
                  </a:cubicBezTo>
                  <a:lnTo>
                    <a:pt x="238472" y="1353245"/>
                  </a:lnTo>
                  <a:cubicBezTo>
                    <a:pt x="106767" y="1353245"/>
                    <a:pt x="0" y="1246477"/>
                    <a:pt x="0" y="1114773"/>
                  </a:cubicBezTo>
                  <a:lnTo>
                    <a:pt x="0" y="238472"/>
                  </a:lnTo>
                  <a:cubicBezTo>
                    <a:pt x="0" y="106767"/>
                    <a:pt x="106767" y="0"/>
                    <a:pt x="238472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18707"/>
              <a:ext cx="855038" cy="1371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r>
                <a:rPr lang="en-US" sz="33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Booking</a:t>
              </a:r>
            </a:p>
            <a:p>
              <a:pPr algn="ctr">
                <a:lnSpc>
                  <a:spcPts val="5507"/>
                </a:lnSpc>
              </a:pPr>
              <a:r>
                <a:rPr lang="en-US" sz="33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Channels</a:t>
              </a:r>
            </a:p>
            <a:p>
              <a:pPr algn="ctr">
                <a:lnSpc>
                  <a:spcPts val="3888"/>
                </a:lnSpc>
              </a:pPr>
              <a:endPara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ctr">
                <a:lnSpc>
                  <a:spcPts val="3888"/>
                </a:lnSpc>
              </a:pPr>
              <a:r>
                <a:rPr lang="en-US" sz="240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Evaluate performance of direct bookings, OTAs, and other platforms.</a:t>
              </a:r>
            </a:p>
            <a:p>
              <a:pPr algn="ctr">
                <a:lnSpc>
                  <a:spcPts val="5507"/>
                </a:lnSpc>
              </a:pPr>
              <a:endPara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26" name="Freeform 26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8" b="-8547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543943" y="666108"/>
            <a:ext cx="2098209" cy="1711443"/>
          </a:xfrm>
          <a:custGeom>
            <a:avLst/>
            <a:gdLst/>
            <a:ahLst/>
            <a:cxnLst/>
            <a:rect l="l" t="t" r="r" b="b"/>
            <a:pathLst>
              <a:path w="2098209" h="1711443">
                <a:moveTo>
                  <a:pt x="0" y="0"/>
                </a:moveTo>
                <a:lnTo>
                  <a:pt x="2098208" y="0"/>
                </a:lnTo>
                <a:lnTo>
                  <a:pt x="2098208" y="1711443"/>
                </a:lnTo>
                <a:lnTo>
                  <a:pt x="0" y="1711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3369" t="-106266" r="-151959" b="-116845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4232324" y="-3716085"/>
            <a:ext cx="7121417" cy="7319694"/>
            <a:chOff x="0" y="0"/>
            <a:chExt cx="9495223" cy="9759592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9495223" cy="9759592"/>
              <a:chOff x="0" y="0"/>
              <a:chExt cx="790783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79078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812800">
                    <a:moveTo>
                      <a:pt x="395391" y="0"/>
                    </a:moveTo>
                    <a:cubicBezTo>
                      <a:pt x="177023" y="0"/>
                      <a:pt x="0" y="181951"/>
                      <a:pt x="0" y="406400"/>
                    </a:cubicBezTo>
                    <a:cubicBezTo>
                      <a:pt x="0" y="630849"/>
                      <a:pt x="177023" y="812800"/>
                      <a:pt x="395391" y="812800"/>
                    </a:cubicBezTo>
                    <a:cubicBezTo>
                      <a:pt x="613760" y="812800"/>
                      <a:pt x="790783" y="630849"/>
                      <a:pt x="790783" y="406400"/>
                    </a:cubicBezTo>
                    <a:cubicBezTo>
                      <a:pt x="790783" y="181951"/>
                      <a:pt x="613760" y="0"/>
                      <a:pt x="395391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4136" y="-28575"/>
                <a:ext cx="642511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0" y="0"/>
              <a:ext cx="9495223" cy="9759592"/>
              <a:chOff x="0" y="0"/>
              <a:chExt cx="790783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79078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812800">
                    <a:moveTo>
                      <a:pt x="395391" y="0"/>
                    </a:moveTo>
                    <a:cubicBezTo>
                      <a:pt x="177023" y="0"/>
                      <a:pt x="0" y="181951"/>
                      <a:pt x="0" y="406400"/>
                    </a:cubicBezTo>
                    <a:cubicBezTo>
                      <a:pt x="0" y="630849"/>
                      <a:pt x="177023" y="812800"/>
                      <a:pt x="395391" y="812800"/>
                    </a:cubicBezTo>
                    <a:cubicBezTo>
                      <a:pt x="613760" y="812800"/>
                      <a:pt x="790783" y="630849"/>
                      <a:pt x="790783" y="406400"/>
                    </a:cubicBezTo>
                    <a:cubicBezTo>
                      <a:pt x="790783" y="181951"/>
                      <a:pt x="613760" y="0"/>
                      <a:pt x="395391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4136" y="-28575"/>
                <a:ext cx="642511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-1704665" y="-1291342"/>
            <a:ext cx="4158097" cy="4158097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A5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-5657265" y="-1001699"/>
            <a:ext cx="7121417" cy="7319694"/>
            <a:chOff x="0" y="0"/>
            <a:chExt cx="9495223" cy="9759592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9495223" cy="9759592"/>
              <a:chOff x="0" y="0"/>
              <a:chExt cx="790783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79078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812800">
                    <a:moveTo>
                      <a:pt x="395391" y="0"/>
                    </a:moveTo>
                    <a:cubicBezTo>
                      <a:pt x="177023" y="0"/>
                      <a:pt x="0" y="181951"/>
                      <a:pt x="0" y="406400"/>
                    </a:cubicBezTo>
                    <a:cubicBezTo>
                      <a:pt x="0" y="630849"/>
                      <a:pt x="177023" y="812800"/>
                      <a:pt x="395391" y="812800"/>
                    </a:cubicBezTo>
                    <a:cubicBezTo>
                      <a:pt x="613760" y="812800"/>
                      <a:pt x="790783" y="630849"/>
                      <a:pt x="790783" y="406400"/>
                    </a:cubicBezTo>
                    <a:cubicBezTo>
                      <a:pt x="790783" y="181951"/>
                      <a:pt x="613760" y="0"/>
                      <a:pt x="395391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4136" y="-28575"/>
                <a:ext cx="642511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0"/>
              <a:ext cx="9495223" cy="9759592"/>
              <a:chOff x="0" y="0"/>
              <a:chExt cx="790783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9078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812800">
                    <a:moveTo>
                      <a:pt x="395391" y="0"/>
                    </a:moveTo>
                    <a:cubicBezTo>
                      <a:pt x="177023" y="0"/>
                      <a:pt x="0" y="181951"/>
                      <a:pt x="0" y="406400"/>
                    </a:cubicBezTo>
                    <a:cubicBezTo>
                      <a:pt x="0" y="630849"/>
                      <a:pt x="177023" y="812800"/>
                      <a:pt x="395391" y="812800"/>
                    </a:cubicBezTo>
                    <a:cubicBezTo>
                      <a:pt x="613760" y="812800"/>
                      <a:pt x="790783" y="630849"/>
                      <a:pt x="790783" y="406400"/>
                    </a:cubicBezTo>
                    <a:cubicBezTo>
                      <a:pt x="790783" y="181951"/>
                      <a:pt x="613760" y="0"/>
                      <a:pt x="395391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4136" y="-28575"/>
                <a:ext cx="642511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95078" y="-2500860"/>
            <a:ext cx="10366134" cy="13557166"/>
            <a:chOff x="0" y="0"/>
            <a:chExt cx="4880610" cy="6383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54F6">
                    <a:alpha val="10000"/>
                  </a:srgbClr>
                </a:gs>
                <a:gs pos="100000">
                  <a:srgbClr val="FEDAF3">
                    <a:alpha val="1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2308175" y="1762535"/>
            <a:ext cx="5979825" cy="2239132"/>
            <a:chOff x="0" y="0"/>
            <a:chExt cx="7973100" cy="298551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973100" cy="2985510"/>
              <a:chOff x="0" y="0"/>
              <a:chExt cx="1312424" cy="4914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312424" cy="491434"/>
              </a:xfrm>
              <a:custGeom>
                <a:avLst/>
                <a:gdLst/>
                <a:ahLst/>
                <a:cxnLst/>
                <a:rect l="l" t="t" r="r" b="b"/>
                <a:pathLst>
                  <a:path w="1312424" h="491434">
                    <a:moveTo>
                      <a:pt x="34670" y="0"/>
                    </a:moveTo>
                    <a:lnTo>
                      <a:pt x="1277754" y="0"/>
                    </a:lnTo>
                    <a:cubicBezTo>
                      <a:pt x="1286949" y="0"/>
                      <a:pt x="1295767" y="3653"/>
                      <a:pt x="1302269" y="10155"/>
                    </a:cubicBezTo>
                    <a:cubicBezTo>
                      <a:pt x="1308771" y="16656"/>
                      <a:pt x="1312424" y="25475"/>
                      <a:pt x="1312424" y="34670"/>
                    </a:cubicBezTo>
                    <a:lnTo>
                      <a:pt x="1312424" y="456764"/>
                    </a:lnTo>
                    <a:cubicBezTo>
                      <a:pt x="1312424" y="465959"/>
                      <a:pt x="1308771" y="474778"/>
                      <a:pt x="1302269" y="481280"/>
                    </a:cubicBezTo>
                    <a:cubicBezTo>
                      <a:pt x="1295767" y="487782"/>
                      <a:pt x="1286949" y="491434"/>
                      <a:pt x="1277754" y="491434"/>
                    </a:cubicBezTo>
                    <a:lnTo>
                      <a:pt x="34670" y="491434"/>
                    </a:lnTo>
                    <a:cubicBezTo>
                      <a:pt x="25475" y="491434"/>
                      <a:pt x="16656" y="487782"/>
                      <a:pt x="10155" y="481280"/>
                    </a:cubicBezTo>
                    <a:cubicBezTo>
                      <a:pt x="3653" y="474778"/>
                      <a:pt x="0" y="465959"/>
                      <a:pt x="0" y="456764"/>
                    </a:cubicBezTo>
                    <a:lnTo>
                      <a:pt x="0" y="34670"/>
                    </a:lnTo>
                    <a:cubicBezTo>
                      <a:pt x="0" y="25475"/>
                      <a:pt x="3653" y="16656"/>
                      <a:pt x="10155" y="10155"/>
                    </a:cubicBezTo>
                    <a:cubicBezTo>
                      <a:pt x="16656" y="3653"/>
                      <a:pt x="25475" y="0"/>
                      <a:pt x="34670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104775"/>
                <a:ext cx="1312424" cy="596209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189690"/>
              <a:ext cx="7973100" cy="2795820"/>
              <a:chOff x="0" y="0"/>
              <a:chExt cx="1312424" cy="46021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12424" cy="460210"/>
              </a:xfrm>
              <a:custGeom>
                <a:avLst/>
                <a:gdLst/>
                <a:ahLst/>
                <a:cxnLst/>
                <a:rect l="l" t="t" r="r" b="b"/>
                <a:pathLst>
                  <a:path w="1312424" h="460210">
                    <a:moveTo>
                      <a:pt x="34670" y="0"/>
                    </a:moveTo>
                    <a:lnTo>
                      <a:pt x="1277754" y="0"/>
                    </a:lnTo>
                    <a:cubicBezTo>
                      <a:pt x="1286949" y="0"/>
                      <a:pt x="1295767" y="3653"/>
                      <a:pt x="1302269" y="10155"/>
                    </a:cubicBezTo>
                    <a:cubicBezTo>
                      <a:pt x="1308771" y="16656"/>
                      <a:pt x="1312424" y="25475"/>
                      <a:pt x="1312424" y="34670"/>
                    </a:cubicBezTo>
                    <a:lnTo>
                      <a:pt x="1312424" y="425540"/>
                    </a:lnTo>
                    <a:cubicBezTo>
                      <a:pt x="1312424" y="434735"/>
                      <a:pt x="1308771" y="443554"/>
                      <a:pt x="1302269" y="450056"/>
                    </a:cubicBezTo>
                    <a:cubicBezTo>
                      <a:pt x="1295767" y="456557"/>
                      <a:pt x="1286949" y="460210"/>
                      <a:pt x="1277754" y="460210"/>
                    </a:cubicBezTo>
                    <a:lnTo>
                      <a:pt x="34670" y="460210"/>
                    </a:lnTo>
                    <a:cubicBezTo>
                      <a:pt x="25475" y="460210"/>
                      <a:pt x="16656" y="456557"/>
                      <a:pt x="10155" y="450056"/>
                    </a:cubicBezTo>
                    <a:cubicBezTo>
                      <a:pt x="3653" y="443554"/>
                      <a:pt x="0" y="434735"/>
                      <a:pt x="0" y="425540"/>
                    </a:cubicBezTo>
                    <a:lnTo>
                      <a:pt x="0" y="34670"/>
                    </a:lnTo>
                    <a:cubicBezTo>
                      <a:pt x="0" y="25475"/>
                      <a:pt x="3653" y="16656"/>
                      <a:pt x="10155" y="10155"/>
                    </a:cubicBezTo>
                    <a:cubicBezTo>
                      <a:pt x="16656" y="3653"/>
                      <a:pt x="25475" y="0"/>
                      <a:pt x="34670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04775"/>
                <a:ext cx="1312424" cy="564985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473822" y="3374442"/>
            <a:ext cx="11075954" cy="5113820"/>
          </a:xfrm>
          <a:custGeom>
            <a:avLst/>
            <a:gdLst/>
            <a:ahLst/>
            <a:cxnLst/>
            <a:rect l="l" t="t" r="r" b="b"/>
            <a:pathLst>
              <a:path w="11075954" h="5113820">
                <a:moveTo>
                  <a:pt x="0" y="0"/>
                </a:moveTo>
                <a:lnTo>
                  <a:pt x="11075955" y="0"/>
                </a:lnTo>
                <a:lnTo>
                  <a:pt x="11075955" y="5113819"/>
                </a:lnTo>
                <a:lnTo>
                  <a:pt x="0" y="5113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03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0" y="458134"/>
            <a:ext cx="14361760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Forecasting &amp; Cancellation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5302" y="1541030"/>
            <a:ext cx="7678698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Deep dive into demand prediction and cancellation patterns.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965950"/>
            <a:ext cx="1831658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Data Ingestion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22076" y="6965950"/>
            <a:ext cx="2342059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Feature Prep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21360" y="6965950"/>
            <a:ext cx="1811060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Prophet Model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89645" y="6965950"/>
            <a:ext cx="2405777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Revenue Prediction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76597" y="2419530"/>
            <a:ext cx="5372115" cy="130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Identified Aug 2019 as peak forecast month</a:t>
            </a:r>
          </a:p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Total forecast bookings ≈ 1.40K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1900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1900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2237309" y="4536589"/>
            <a:ext cx="6050691" cy="2239132"/>
            <a:chOff x="0" y="0"/>
            <a:chExt cx="8067588" cy="298551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8067588" cy="2985510"/>
              <a:chOff x="0" y="0"/>
              <a:chExt cx="1327977" cy="49143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327977" cy="491434"/>
              </a:xfrm>
              <a:custGeom>
                <a:avLst/>
                <a:gdLst/>
                <a:ahLst/>
                <a:cxnLst/>
                <a:rect l="l" t="t" r="r" b="b"/>
                <a:pathLst>
                  <a:path w="1327977" h="491434">
                    <a:moveTo>
                      <a:pt x="34264" y="0"/>
                    </a:moveTo>
                    <a:lnTo>
                      <a:pt x="1293713" y="0"/>
                    </a:lnTo>
                    <a:cubicBezTo>
                      <a:pt x="1312637" y="0"/>
                      <a:pt x="1327977" y="15340"/>
                      <a:pt x="1327977" y="34264"/>
                    </a:cubicBezTo>
                    <a:lnTo>
                      <a:pt x="1327977" y="457170"/>
                    </a:lnTo>
                    <a:cubicBezTo>
                      <a:pt x="1327977" y="476094"/>
                      <a:pt x="1312637" y="491434"/>
                      <a:pt x="1293713" y="491434"/>
                    </a:cubicBezTo>
                    <a:lnTo>
                      <a:pt x="34264" y="491434"/>
                    </a:lnTo>
                    <a:cubicBezTo>
                      <a:pt x="25177" y="491434"/>
                      <a:pt x="16461" y="487824"/>
                      <a:pt x="10036" y="481399"/>
                    </a:cubicBezTo>
                    <a:cubicBezTo>
                      <a:pt x="3610" y="474973"/>
                      <a:pt x="0" y="466258"/>
                      <a:pt x="0" y="457170"/>
                    </a:cubicBezTo>
                    <a:lnTo>
                      <a:pt x="0" y="34264"/>
                    </a:lnTo>
                    <a:cubicBezTo>
                      <a:pt x="0" y="15340"/>
                      <a:pt x="15340" y="0"/>
                      <a:pt x="34264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104775"/>
                <a:ext cx="1327977" cy="596209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189690"/>
              <a:ext cx="8067588" cy="2795820"/>
              <a:chOff x="0" y="0"/>
              <a:chExt cx="1327977" cy="46021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327977" cy="460210"/>
              </a:xfrm>
              <a:custGeom>
                <a:avLst/>
                <a:gdLst/>
                <a:ahLst/>
                <a:cxnLst/>
                <a:rect l="l" t="t" r="r" b="b"/>
                <a:pathLst>
                  <a:path w="1327977" h="460210">
                    <a:moveTo>
                      <a:pt x="34264" y="0"/>
                    </a:moveTo>
                    <a:lnTo>
                      <a:pt x="1293713" y="0"/>
                    </a:lnTo>
                    <a:cubicBezTo>
                      <a:pt x="1312637" y="0"/>
                      <a:pt x="1327977" y="15340"/>
                      <a:pt x="1327977" y="34264"/>
                    </a:cubicBezTo>
                    <a:lnTo>
                      <a:pt x="1327977" y="425946"/>
                    </a:lnTo>
                    <a:cubicBezTo>
                      <a:pt x="1327977" y="435034"/>
                      <a:pt x="1324367" y="443749"/>
                      <a:pt x="1317942" y="450174"/>
                    </a:cubicBezTo>
                    <a:cubicBezTo>
                      <a:pt x="1311516" y="456600"/>
                      <a:pt x="1302801" y="460210"/>
                      <a:pt x="1293713" y="460210"/>
                    </a:cubicBezTo>
                    <a:lnTo>
                      <a:pt x="34264" y="460210"/>
                    </a:lnTo>
                    <a:cubicBezTo>
                      <a:pt x="15340" y="460210"/>
                      <a:pt x="0" y="444870"/>
                      <a:pt x="0" y="425946"/>
                    </a:cubicBezTo>
                    <a:lnTo>
                      <a:pt x="0" y="34264"/>
                    </a:lnTo>
                    <a:cubicBezTo>
                      <a:pt x="0" y="15340"/>
                      <a:pt x="15340" y="0"/>
                      <a:pt x="34264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104775"/>
                <a:ext cx="1327977" cy="564985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2308175" y="7169404"/>
            <a:ext cx="5838091" cy="2239132"/>
            <a:chOff x="0" y="0"/>
            <a:chExt cx="7784122" cy="298551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7784122" cy="2985510"/>
              <a:chOff x="0" y="0"/>
              <a:chExt cx="1281317" cy="49143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281317" cy="491434"/>
              </a:xfrm>
              <a:custGeom>
                <a:avLst/>
                <a:gdLst/>
                <a:ahLst/>
                <a:cxnLst/>
                <a:rect l="l" t="t" r="r" b="b"/>
                <a:pathLst>
                  <a:path w="1281317" h="491434">
                    <a:moveTo>
                      <a:pt x="35512" y="0"/>
                    </a:moveTo>
                    <a:lnTo>
                      <a:pt x="1245805" y="0"/>
                    </a:lnTo>
                    <a:cubicBezTo>
                      <a:pt x="1265418" y="0"/>
                      <a:pt x="1281317" y="15899"/>
                      <a:pt x="1281317" y="35512"/>
                    </a:cubicBezTo>
                    <a:lnTo>
                      <a:pt x="1281317" y="455923"/>
                    </a:lnTo>
                    <a:cubicBezTo>
                      <a:pt x="1281317" y="475535"/>
                      <a:pt x="1265418" y="491434"/>
                      <a:pt x="1245805" y="491434"/>
                    </a:cubicBezTo>
                    <a:lnTo>
                      <a:pt x="35512" y="491434"/>
                    </a:lnTo>
                    <a:cubicBezTo>
                      <a:pt x="15899" y="491434"/>
                      <a:pt x="0" y="475535"/>
                      <a:pt x="0" y="455923"/>
                    </a:cubicBezTo>
                    <a:lnTo>
                      <a:pt x="0" y="35512"/>
                    </a:lnTo>
                    <a:cubicBezTo>
                      <a:pt x="0" y="15899"/>
                      <a:pt x="15899" y="0"/>
                      <a:pt x="35512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104775"/>
                <a:ext cx="1281317" cy="596209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189690"/>
              <a:ext cx="7784122" cy="2795820"/>
              <a:chOff x="0" y="0"/>
              <a:chExt cx="1281317" cy="46021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281317" cy="460210"/>
              </a:xfrm>
              <a:custGeom>
                <a:avLst/>
                <a:gdLst/>
                <a:ahLst/>
                <a:cxnLst/>
                <a:rect l="l" t="t" r="r" b="b"/>
                <a:pathLst>
                  <a:path w="1281317" h="460210">
                    <a:moveTo>
                      <a:pt x="35512" y="0"/>
                    </a:moveTo>
                    <a:lnTo>
                      <a:pt x="1245805" y="0"/>
                    </a:lnTo>
                    <a:cubicBezTo>
                      <a:pt x="1265418" y="0"/>
                      <a:pt x="1281317" y="15899"/>
                      <a:pt x="1281317" y="35512"/>
                    </a:cubicBezTo>
                    <a:lnTo>
                      <a:pt x="1281317" y="424698"/>
                    </a:lnTo>
                    <a:cubicBezTo>
                      <a:pt x="1281317" y="444311"/>
                      <a:pt x="1265418" y="460210"/>
                      <a:pt x="1245805" y="460210"/>
                    </a:cubicBezTo>
                    <a:lnTo>
                      <a:pt x="35512" y="460210"/>
                    </a:lnTo>
                    <a:cubicBezTo>
                      <a:pt x="15899" y="460210"/>
                      <a:pt x="0" y="444311"/>
                      <a:pt x="0" y="424698"/>
                    </a:cubicBezTo>
                    <a:lnTo>
                      <a:pt x="0" y="35512"/>
                    </a:lnTo>
                    <a:cubicBezTo>
                      <a:pt x="0" y="15899"/>
                      <a:pt x="15899" y="0"/>
                      <a:pt x="35512" y="0"/>
                    </a:cubicBezTo>
                    <a:close/>
                  </a:path>
                </a:pathLst>
              </a:custGeom>
              <a:ln w="57150" cap="rnd">
                <a:solidFill>
                  <a:srgbClr val="FEFEFE"/>
                </a:solidFill>
                <a:prstDash val="solid"/>
                <a:round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104775"/>
                <a:ext cx="1281317" cy="564985"/>
              </a:xfrm>
              <a:prstGeom prst="rect">
                <a:avLst/>
              </a:prstGeom>
            </p:spPr>
            <p:txBody>
              <a:bodyPr lIns="57524" tIns="57524" rIns="57524" bIns="57524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12237309" y="5109801"/>
            <a:ext cx="5908958" cy="103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Overall Cancellation Rate: 0.37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Higher cancellations observed in Couple &amp; “solo” guest types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520775" y="7709171"/>
            <a:ext cx="5372115" cy="1378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Average Lead Time: 104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Longer lead time bookings show higher cancellation probability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  <a:endParaRPr lang="en-US" sz="1979">
              <a:solidFill>
                <a:srgbClr val="020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38" b="-8547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07744" y="-1309801"/>
            <a:ext cx="4158097" cy="415809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A5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67987" y="8122325"/>
            <a:ext cx="1135975" cy="113597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A5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51586" y="-4969649"/>
            <a:ext cx="7121417" cy="7319694"/>
            <a:chOff x="0" y="0"/>
            <a:chExt cx="9495223" cy="9759592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495223" cy="9759592"/>
              <a:chOff x="0" y="0"/>
              <a:chExt cx="790783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9078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812800">
                    <a:moveTo>
                      <a:pt x="395391" y="0"/>
                    </a:moveTo>
                    <a:cubicBezTo>
                      <a:pt x="177023" y="0"/>
                      <a:pt x="0" y="181951"/>
                      <a:pt x="0" y="406400"/>
                    </a:cubicBezTo>
                    <a:cubicBezTo>
                      <a:pt x="0" y="630849"/>
                      <a:pt x="177023" y="812800"/>
                      <a:pt x="395391" y="812800"/>
                    </a:cubicBezTo>
                    <a:cubicBezTo>
                      <a:pt x="613760" y="812800"/>
                      <a:pt x="790783" y="630849"/>
                      <a:pt x="790783" y="406400"/>
                    </a:cubicBezTo>
                    <a:cubicBezTo>
                      <a:pt x="790783" y="181951"/>
                      <a:pt x="613760" y="0"/>
                      <a:pt x="395391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4136" y="-28575"/>
                <a:ext cx="642511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9495223" cy="9759592"/>
              <a:chOff x="0" y="0"/>
              <a:chExt cx="790783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9078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90783" h="812800">
                    <a:moveTo>
                      <a:pt x="395391" y="0"/>
                    </a:moveTo>
                    <a:cubicBezTo>
                      <a:pt x="177023" y="0"/>
                      <a:pt x="0" y="181951"/>
                      <a:pt x="0" y="406400"/>
                    </a:cubicBezTo>
                    <a:cubicBezTo>
                      <a:pt x="0" y="630849"/>
                      <a:pt x="177023" y="812800"/>
                      <a:pt x="395391" y="812800"/>
                    </a:cubicBezTo>
                    <a:cubicBezTo>
                      <a:pt x="613760" y="812800"/>
                      <a:pt x="790783" y="630849"/>
                      <a:pt x="790783" y="406400"/>
                    </a:cubicBezTo>
                    <a:cubicBezTo>
                      <a:pt x="790783" y="181951"/>
                      <a:pt x="613760" y="0"/>
                      <a:pt x="395391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4136" y="-28575"/>
                <a:ext cx="642511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16254287" y="9187543"/>
            <a:ext cx="2010027" cy="1099457"/>
          </a:xfrm>
          <a:custGeom>
            <a:avLst/>
            <a:gdLst/>
            <a:ahLst/>
            <a:cxnLst/>
            <a:rect l="l" t="t" r="r" b="b"/>
            <a:pathLst>
              <a:path w="2010027" h="1099457">
                <a:moveTo>
                  <a:pt x="0" y="0"/>
                </a:moveTo>
                <a:lnTo>
                  <a:pt x="2010026" y="0"/>
                </a:lnTo>
                <a:lnTo>
                  <a:pt x="2010026" y="1099457"/>
                </a:lnTo>
                <a:lnTo>
                  <a:pt x="0" y="109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8" b="-8547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5156769" y="-2343289"/>
            <a:ext cx="11284213" cy="13557166"/>
            <a:chOff x="0" y="0"/>
            <a:chExt cx="5312863" cy="63830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11480" cy="6383238"/>
            </a:xfrm>
            <a:custGeom>
              <a:avLst/>
              <a:gdLst/>
              <a:ahLst/>
              <a:cxnLst/>
              <a:rect l="l" t="t" r="r" b="b"/>
              <a:pathLst>
                <a:path w="5311480" h="6383238">
                  <a:moveTo>
                    <a:pt x="1856668" y="2045970"/>
                  </a:moveTo>
                  <a:cubicBezTo>
                    <a:pt x="1415657" y="1916430"/>
                    <a:pt x="1020269" y="1748790"/>
                    <a:pt x="673267" y="1541780"/>
                  </a:cubicBezTo>
                  <a:lnTo>
                    <a:pt x="673267" y="0"/>
                  </a:lnTo>
                  <a:cubicBezTo>
                    <a:pt x="1917497" y="477520"/>
                    <a:pt x="3214261" y="1047750"/>
                    <a:pt x="4571855" y="1188720"/>
                  </a:cubicBezTo>
                  <a:cubicBezTo>
                    <a:pt x="4983833" y="1230630"/>
                    <a:pt x="5296273" y="1550670"/>
                    <a:pt x="5296273" y="1930400"/>
                  </a:cubicBezTo>
                  <a:cubicBezTo>
                    <a:pt x="5296273" y="2198370"/>
                    <a:pt x="5128993" y="2442210"/>
                    <a:pt x="4864939" y="2557780"/>
                  </a:cubicBezTo>
                  <a:cubicBezTo>
                    <a:pt x="4711485" y="2625090"/>
                    <a:pt x="4548352" y="2693670"/>
                    <a:pt x="4432224" y="2733040"/>
                  </a:cubicBezTo>
                  <a:lnTo>
                    <a:pt x="4533145" y="2733040"/>
                  </a:lnTo>
                  <a:cubicBezTo>
                    <a:pt x="4964478" y="2735580"/>
                    <a:pt x="5311480" y="3056890"/>
                    <a:pt x="5311480" y="3453130"/>
                  </a:cubicBezTo>
                  <a:lnTo>
                    <a:pt x="5311480" y="3708400"/>
                  </a:lnTo>
                  <a:cubicBezTo>
                    <a:pt x="5311480" y="4017010"/>
                    <a:pt x="5097196" y="4291330"/>
                    <a:pt x="4779226" y="4389120"/>
                  </a:cubicBezTo>
                  <a:cubicBezTo>
                    <a:pt x="4036835" y="4622800"/>
                    <a:pt x="3248823" y="4791710"/>
                    <a:pt x="2429014" y="4909820"/>
                  </a:cubicBezTo>
                  <a:cubicBezTo>
                    <a:pt x="3136842" y="5016500"/>
                    <a:pt x="3868173" y="5017770"/>
                    <a:pt x="4623006" y="4904740"/>
                  </a:cubicBezTo>
                  <a:lnTo>
                    <a:pt x="4623006" y="6311900"/>
                  </a:lnTo>
                  <a:cubicBezTo>
                    <a:pt x="3134077" y="6484620"/>
                    <a:pt x="1688005" y="6370320"/>
                    <a:pt x="329030" y="5673090"/>
                  </a:cubicBezTo>
                  <a:cubicBezTo>
                    <a:pt x="125805" y="5570220"/>
                    <a:pt x="0" y="5373370"/>
                    <a:pt x="0" y="5161280"/>
                  </a:cubicBezTo>
                  <a:cubicBezTo>
                    <a:pt x="0" y="4523740"/>
                    <a:pt x="535019" y="3992880"/>
                    <a:pt x="1226258" y="3944620"/>
                  </a:cubicBezTo>
                  <a:cubicBezTo>
                    <a:pt x="1520726" y="3924300"/>
                    <a:pt x="1809664" y="3896360"/>
                    <a:pt x="2093071" y="3860800"/>
                  </a:cubicBezTo>
                  <a:lnTo>
                    <a:pt x="958057" y="3854450"/>
                  </a:lnTo>
                  <a:cubicBezTo>
                    <a:pt x="428568" y="3849370"/>
                    <a:pt x="0" y="3454400"/>
                    <a:pt x="0" y="2966720"/>
                  </a:cubicBezTo>
                  <a:cubicBezTo>
                    <a:pt x="0" y="2528570"/>
                    <a:pt x="370504" y="2166620"/>
                    <a:pt x="846076" y="2138680"/>
                  </a:cubicBezTo>
                  <a:cubicBezTo>
                    <a:pt x="1186166" y="2118360"/>
                    <a:pt x="1523491" y="2087880"/>
                    <a:pt x="1856668" y="204597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54F6">
                    <a:alpha val="10000"/>
                  </a:srgbClr>
                </a:gs>
                <a:gs pos="100000">
                  <a:srgbClr val="FEDAF3">
                    <a:alpha val="1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</p:grp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1028700" y="1792789"/>
          <a:ext cx="15019091" cy="10105837"/>
        </p:xfrm>
        <a:graphic>
          <a:graphicData uri="http://schemas.openxmlformats.org/drawingml/2006/table">
            <a:tbl>
              <a:tblPr/>
              <a:tblGrid>
                <a:gridCol w="1501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983">
                <a:tc>
                  <a:txBody>
                    <a:bodyPr/>
                    <a:lstStyle/>
                    <a:p>
                      <a:pPr algn="r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Channel &amp; Segment Optimization</a:t>
                      </a:r>
                      <a:endParaRPr lang="en-US" sz="1100"/>
                    </a:p>
                    <a:p>
                      <a:pPr algn="r">
                        <a:lnSpc>
                          <a:spcPts val="2771"/>
                        </a:lnSpc>
                      </a:pPr>
                      <a:endParaRPr lang="en-US" sz="1100"/>
                    </a:p>
                    <a:p>
                      <a:pPr algn="r">
                        <a:lnSpc>
                          <a:spcPts val="2771"/>
                        </a:lnSpc>
                      </a:pPr>
                      <a:r>
                        <a:rPr lang="en-US" sz="197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Focus on high RevPAR channels (TA/TO, Online TA)</a:t>
                      </a:r>
                    </a:p>
                    <a:p>
                      <a:pPr algn="r">
                        <a:lnSpc>
                          <a:spcPts val="2771"/>
                        </a:lnSpc>
                      </a:pPr>
                      <a:r>
                        <a:rPr lang="en-US" sz="197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Reduce dependency on low-contributing segments</a:t>
                      </a:r>
                    </a:p>
                    <a:p>
                      <a:pPr algn="r">
                        <a:lnSpc>
                          <a:spcPts val="2771"/>
                        </a:lnSpc>
                      </a:pPr>
                      <a:r>
                        <a:rPr lang="en-US" sz="197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Promote direct bookings to improve margins</a:t>
                      </a:r>
                    </a:p>
                    <a:p>
                      <a:pPr algn="r">
                        <a:lnSpc>
                          <a:spcPts val="2771"/>
                        </a:lnSpc>
                      </a:pPr>
                      <a:endParaRPr lang="en-US" sz="1979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A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0804">
                <a:tc>
                  <a:txBody>
                    <a:bodyPr/>
                    <a:lstStyle/>
                    <a:p>
                      <a:pPr algn="l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22284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Upselling &amp; Revenue Expansion</a:t>
                      </a:r>
                      <a:endParaRPr lang="en-US" sz="1100"/>
                    </a:p>
                    <a:p>
                      <a:pPr algn="l">
                        <a:lnSpc>
                          <a:spcPts val="2771"/>
                        </a:lnSpc>
                      </a:pPr>
                      <a:endParaRPr lang="en-US" sz="1100"/>
                    </a:p>
                    <a:p>
                      <a:pPr algn="l">
                        <a:lnSpc>
                          <a:spcPts val="2771"/>
                        </a:lnSpc>
                      </a:pPr>
                      <a:r>
                        <a:rPr lang="en-US" sz="1979">
                          <a:solidFill>
                            <a:srgbClr val="22284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Leverage special request data for meal and room upgrades</a:t>
                      </a:r>
                    </a:p>
                    <a:p>
                      <a:pPr algn="l">
                        <a:lnSpc>
                          <a:spcPts val="2771"/>
                        </a:lnSpc>
                      </a:pPr>
                      <a:r>
                        <a:rPr lang="en-US" sz="1979">
                          <a:solidFill>
                            <a:srgbClr val="22284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Promote premium room categories during peak season</a:t>
                      </a:r>
                    </a:p>
                    <a:p>
                      <a:pPr algn="l">
                        <a:lnSpc>
                          <a:spcPts val="2771"/>
                        </a:lnSpc>
                      </a:pPr>
                      <a:r>
                        <a:rPr lang="en-US" sz="1979">
                          <a:solidFill>
                            <a:srgbClr val="22284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Implement personalized offers for repeat guests</a:t>
                      </a:r>
                    </a:p>
                    <a:p>
                      <a:pPr algn="l">
                        <a:lnSpc>
                          <a:spcPts val="2771"/>
                        </a:lnSpc>
                      </a:pPr>
                      <a:endParaRPr lang="en-US" sz="1979">
                        <a:solidFill>
                          <a:srgbClr val="22284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8402">
                <a:tc>
                  <a:txBody>
                    <a:bodyPr/>
                    <a:lstStyle/>
                    <a:p>
                      <a:pPr algn="ctr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                                                                                                                                                                                           Cancellation Risk Control</a:t>
                      </a:r>
                      <a:endParaRPr lang="en-US" sz="1100"/>
                    </a:p>
                    <a:p>
                      <a:pPr algn="r">
                        <a:lnSpc>
                          <a:spcPts val="2771"/>
                        </a:lnSpc>
                      </a:pPr>
                      <a:endParaRPr lang="en-US" sz="1100"/>
                    </a:p>
                    <a:p>
                      <a:pPr algn="r">
                        <a:lnSpc>
                          <a:spcPts val="2771"/>
                        </a:lnSpc>
                      </a:pPr>
                      <a:r>
                        <a:rPr lang="en-US" sz="197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 lead time shows higher cancellation risk → introduce partial </a:t>
                      </a:r>
                    </a:p>
                    <a:p>
                      <a:pPr algn="r">
                        <a:lnSpc>
                          <a:spcPts val="2771"/>
                        </a:lnSpc>
                      </a:pPr>
                      <a:r>
                        <a:rPr lang="en-US" sz="197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deposit policyTarget Family &amp; “Other” segments with stricter </a:t>
                      </a:r>
                    </a:p>
                    <a:p>
                      <a:pPr algn="r">
                        <a:lnSpc>
                          <a:spcPts val="2771"/>
                        </a:lnSpc>
                      </a:pPr>
                      <a:r>
                        <a:rPr lang="en-US" sz="197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cancellation termsOffer incentives for non-refundable bookings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A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9648">
                <a:tc>
                  <a:txBody>
                    <a:bodyPr/>
                    <a:lstStyle/>
                    <a:p>
                      <a:pPr algn="ctr">
                        <a:lnSpc>
                          <a:spcPts val="2771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A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Freeform 19"/>
          <p:cNvSpPr/>
          <p:nvPr/>
        </p:nvSpPr>
        <p:spPr>
          <a:xfrm>
            <a:off x="1421891" y="2233670"/>
            <a:ext cx="5352867" cy="2085248"/>
          </a:xfrm>
          <a:custGeom>
            <a:avLst/>
            <a:gdLst/>
            <a:ahLst/>
            <a:cxnLst/>
            <a:rect l="l" t="t" r="r" b="b"/>
            <a:pathLst>
              <a:path w="5352867" h="2085248">
                <a:moveTo>
                  <a:pt x="0" y="0"/>
                </a:moveTo>
                <a:lnTo>
                  <a:pt x="5352866" y="0"/>
                </a:lnTo>
                <a:lnTo>
                  <a:pt x="5352866" y="2085248"/>
                </a:lnTo>
                <a:lnTo>
                  <a:pt x="0" y="208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937" b="-55276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21891" y="7332466"/>
            <a:ext cx="4648262" cy="2191151"/>
          </a:xfrm>
          <a:custGeom>
            <a:avLst/>
            <a:gdLst/>
            <a:ahLst/>
            <a:cxnLst/>
            <a:rect l="l" t="t" r="r" b="b"/>
            <a:pathLst>
              <a:path w="4648262" h="2191151">
                <a:moveTo>
                  <a:pt x="0" y="0"/>
                </a:moveTo>
                <a:lnTo>
                  <a:pt x="4648262" y="0"/>
                </a:lnTo>
                <a:lnTo>
                  <a:pt x="4648262" y="2191151"/>
                </a:lnTo>
                <a:lnTo>
                  <a:pt x="0" y="2191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724" r="-1689" b="-32084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079288" y="4435294"/>
            <a:ext cx="3611764" cy="2897172"/>
          </a:xfrm>
          <a:custGeom>
            <a:avLst/>
            <a:gdLst/>
            <a:ahLst/>
            <a:cxnLst/>
            <a:rect l="l" t="t" r="r" b="b"/>
            <a:pathLst>
              <a:path w="3611764" h="2897172">
                <a:moveTo>
                  <a:pt x="0" y="0"/>
                </a:moveTo>
                <a:lnTo>
                  <a:pt x="3611764" y="0"/>
                </a:lnTo>
                <a:lnTo>
                  <a:pt x="3611764" y="2897172"/>
                </a:lnTo>
                <a:lnTo>
                  <a:pt x="0" y="28971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700" b="-4700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28700" y="565514"/>
            <a:ext cx="9822886" cy="1479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Strategic Recommendations </a:t>
            </a:r>
          </a:p>
          <a:p>
            <a:pPr algn="l">
              <a:lnSpc>
                <a:spcPts val="5615"/>
              </a:lnSpc>
            </a:pPr>
            <a:endParaRPr lang="en-US" sz="5199" b="1">
              <a:solidFill>
                <a:srgbClr val="02044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5154" y="-742406"/>
            <a:ext cx="1861146" cy="1771106"/>
            <a:chOff x="0" y="0"/>
            <a:chExt cx="812800" cy="7734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73478"/>
            </a:xfrm>
            <a:custGeom>
              <a:avLst/>
              <a:gdLst/>
              <a:ahLst/>
              <a:cxnLst/>
              <a:rect l="l" t="t" r="r" b="b"/>
              <a:pathLst>
                <a:path w="812800" h="773478">
                  <a:moveTo>
                    <a:pt x="406400" y="0"/>
                  </a:moveTo>
                  <a:cubicBezTo>
                    <a:pt x="181951" y="0"/>
                    <a:pt x="0" y="173149"/>
                    <a:pt x="0" y="386739"/>
                  </a:cubicBezTo>
                  <a:cubicBezTo>
                    <a:pt x="0" y="600329"/>
                    <a:pt x="181951" y="773478"/>
                    <a:pt x="406400" y="773478"/>
                  </a:cubicBezTo>
                  <a:cubicBezTo>
                    <a:pt x="630849" y="773478"/>
                    <a:pt x="812800" y="600329"/>
                    <a:pt x="812800" y="386739"/>
                  </a:cubicBezTo>
                  <a:cubicBezTo>
                    <a:pt x="812800" y="17314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32261"/>
              <a:ext cx="660400" cy="7332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92574" y="2525864"/>
            <a:ext cx="4902015" cy="3269354"/>
            <a:chOff x="0" y="0"/>
            <a:chExt cx="654745" cy="4366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4745" cy="436698"/>
            </a:xfrm>
            <a:custGeom>
              <a:avLst/>
              <a:gdLst/>
              <a:ahLst/>
              <a:cxnLst/>
              <a:rect l="l" t="t" r="r" b="b"/>
              <a:pathLst>
                <a:path w="654745" h="436698">
                  <a:moveTo>
                    <a:pt x="654745" y="82125"/>
                  </a:moveTo>
                  <a:lnTo>
                    <a:pt x="654745" y="354573"/>
                  </a:lnTo>
                  <a:cubicBezTo>
                    <a:pt x="654745" y="399929"/>
                    <a:pt x="617976" y="436698"/>
                    <a:pt x="572619" y="436698"/>
                  </a:cubicBezTo>
                  <a:lnTo>
                    <a:pt x="82125" y="436698"/>
                  </a:lnTo>
                  <a:cubicBezTo>
                    <a:pt x="36769" y="436698"/>
                    <a:pt x="0" y="399929"/>
                    <a:pt x="0" y="354573"/>
                  </a:cubicBezTo>
                  <a:lnTo>
                    <a:pt x="0" y="82125"/>
                  </a:lnTo>
                  <a:cubicBezTo>
                    <a:pt x="0" y="36769"/>
                    <a:pt x="36769" y="0"/>
                    <a:pt x="82125" y="0"/>
                  </a:cubicBezTo>
                  <a:lnTo>
                    <a:pt x="572619" y="0"/>
                  </a:lnTo>
                  <a:cubicBezTo>
                    <a:pt x="617976" y="0"/>
                    <a:pt x="654745" y="36769"/>
                    <a:pt x="654745" y="82125"/>
                  </a:cubicBezTo>
                  <a:close/>
                </a:path>
              </a:pathLst>
            </a:custGeom>
            <a:solidFill>
              <a:srgbClr val="FEFEFE">
                <a:alpha val="45882"/>
              </a:srgbClr>
            </a:solidFill>
            <a:ln w="38100" cap="rnd">
              <a:solidFill>
                <a:srgbClr val="9B6EFF">
                  <a:alpha val="45882"/>
                </a:srgbClr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654745" cy="541473"/>
            </a:xfrm>
            <a:prstGeom prst="rect">
              <a:avLst/>
            </a:prstGeom>
          </p:spPr>
          <p:txBody>
            <a:bodyPr lIns="57524" tIns="57524" rIns="57524" bIns="57524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70093" y="6254457"/>
            <a:ext cx="4741177" cy="3430166"/>
            <a:chOff x="0" y="0"/>
            <a:chExt cx="633262" cy="4581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262" cy="458178"/>
            </a:xfrm>
            <a:custGeom>
              <a:avLst/>
              <a:gdLst/>
              <a:ahLst/>
              <a:cxnLst/>
              <a:rect l="l" t="t" r="r" b="b"/>
              <a:pathLst>
                <a:path w="633262" h="458178">
                  <a:moveTo>
                    <a:pt x="633262" y="84911"/>
                  </a:moveTo>
                  <a:lnTo>
                    <a:pt x="633262" y="373267"/>
                  </a:lnTo>
                  <a:cubicBezTo>
                    <a:pt x="633262" y="420162"/>
                    <a:pt x="595246" y="458178"/>
                    <a:pt x="548351" y="458178"/>
                  </a:cubicBezTo>
                  <a:lnTo>
                    <a:pt x="84911" y="458178"/>
                  </a:lnTo>
                  <a:cubicBezTo>
                    <a:pt x="38016" y="458178"/>
                    <a:pt x="0" y="420162"/>
                    <a:pt x="0" y="373267"/>
                  </a:cubicBezTo>
                  <a:lnTo>
                    <a:pt x="0" y="84911"/>
                  </a:lnTo>
                  <a:cubicBezTo>
                    <a:pt x="0" y="38016"/>
                    <a:pt x="38016" y="0"/>
                    <a:pt x="84911" y="0"/>
                  </a:cubicBezTo>
                  <a:lnTo>
                    <a:pt x="548351" y="0"/>
                  </a:lnTo>
                  <a:cubicBezTo>
                    <a:pt x="570870" y="0"/>
                    <a:pt x="592468" y="8946"/>
                    <a:pt x="608392" y="24870"/>
                  </a:cubicBezTo>
                  <a:cubicBezTo>
                    <a:pt x="624316" y="40794"/>
                    <a:pt x="633262" y="62391"/>
                    <a:pt x="633262" y="84911"/>
                  </a:cubicBezTo>
                  <a:close/>
                </a:path>
              </a:pathLst>
            </a:custGeom>
            <a:solidFill>
              <a:srgbClr val="FEFEFE">
                <a:alpha val="45882"/>
              </a:srgbClr>
            </a:solidFill>
            <a:ln w="38100" cap="rnd">
              <a:solidFill>
                <a:srgbClr val="9B6EFF">
                  <a:alpha val="45882"/>
                </a:srgbClr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633262" cy="562953"/>
            </a:xfrm>
            <a:prstGeom prst="rect">
              <a:avLst/>
            </a:prstGeom>
          </p:spPr>
          <p:txBody>
            <a:bodyPr lIns="57524" tIns="57524" rIns="57524" bIns="57524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70093" y="2525864"/>
            <a:ext cx="4741177" cy="3105880"/>
            <a:chOff x="0" y="0"/>
            <a:chExt cx="633262" cy="4148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3262" cy="414862"/>
            </a:xfrm>
            <a:custGeom>
              <a:avLst/>
              <a:gdLst/>
              <a:ahLst/>
              <a:cxnLst/>
              <a:rect l="l" t="t" r="r" b="b"/>
              <a:pathLst>
                <a:path w="633262" h="414862">
                  <a:moveTo>
                    <a:pt x="633262" y="84911"/>
                  </a:moveTo>
                  <a:lnTo>
                    <a:pt x="633262" y="329951"/>
                  </a:lnTo>
                  <a:cubicBezTo>
                    <a:pt x="633262" y="376846"/>
                    <a:pt x="595246" y="414862"/>
                    <a:pt x="548351" y="414862"/>
                  </a:cubicBezTo>
                  <a:lnTo>
                    <a:pt x="84911" y="414862"/>
                  </a:lnTo>
                  <a:cubicBezTo>
                    <a:pt x="38016" y="414862"/>
                    <a:pt x="0" y="376846"/>
                    <a:pt x="0" y="329951"/>
                  </a:cubicBezTo>
                  <a:lnTo>
                    <a:pt x="0" y="84911"/>
                  </a:lnTo>
                  <a:cubicBezTo>
                    <a:pt x="0" y="38016"/>
                    <a:pt x="38016" y="0"/>
                    <a:pt x="84911" y="0"/>
                  </a:cubicBezTo>
                  <a:lnTo>
                    <a:pt x="548351" y="0"/>
                  </a:lnTo>
                  <a:cubicBezTo>
                    <a:pt x="570870" y="0"/>
                    <a:pt x="592468" y="8946"/>
                    <a:pt x="608392" y="24870"/>
                  </a:cubicBezTo>
                  <a:cubicBezTo>
                    <a:pt x="624316" y="40794"/>
                    <a:pt x="633262" y="62391"/>
                    <a:pt x="633262" y="84911"/>
                  </a:cubicBezTo>
                  <a:close/>
                </a:path>
              </a:pathLst>
            </a:custGeom>
            <a:solidFill>
              <a:srgbClr val="FEFEFE">
                <a:alpha val="45882"/>
              </a:srgbClr>
            </a:solidFill>
            <a:ln w="38100" cap="rnd">
              <a:solidFill>
                <a:srgbClr val="9B6EFF">
                  <a:alpha val="45882"/>
                </a:srgbClr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633262" cy="519637"/>
            </a:xfrm>
            <a:prstGeom prst="rect">
              <a:avLst/>
            </a:prstGeom>
          </p:spPr>
          <p:txBody>
            <a:bodyPr lIns="57524" tIns="57524" rIns="57524" bIns="57524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92574" y="6254457"/>
            <a:ext cx="4902015" cy="3430166"/>
            <a:chOff x="0" y="0"/>
            <a:chExt cx="654745" cy="4581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4745" cy="458178"/>
            </a:xfrm>
            <a:custGeom>
              <a:avLst/>
              <a:gdLst/>
              <a:ahLst/>
              <a:cxnLst/>
              <a:rect l="l" t="t" r="r" b="b"/>
              <a:pathLst>
                <a:path w="654745" h="458178">
                  <a:moveTo>
                    <a:pt x="654745" y="82125"/>
                  </a:moveTo>
                  <a:lnTo>
                    <a:pt x="654745" y="376053"/>
                  </a:lnTo>
                  <a:cubicBezTo>
                    <a:pt x="654745" y="421409"/>
                    <a:pt x="617976" y="458178"/>
                    <a:pt x="572619" y="458178"/>
                  </a:cubicBezTo>
                  <a:lnTo>
                    <a:pt x="82125" y="458178"/>
                  </a:lnTo>
                  <a:cubicBezTo>
                    <a:pt x="36769" y="458178"/>
                    <a:pt x="0" y="421409"/>
                    <a:pt x="0" y="376053"/>
                  </a:cubicBezTo>
                  <a:lnTo>
                    <a:pt x="0" y="82125"/>
                  </a:lnTo>
                  <a:cubicBezTo>
                    <a:pt x="0" y="36769"/>
                    <a:pt x="36769" y="0"/>
                    <a:pt x="82125" y="0"/>
                  </a:cubicBezTo>
                  <a:lnTo>
                    <a:pt x="572619" y="0"/>
                  </a:lnTo>
                  <a:cubicBezTo>
                    <a:pt x="617976" y="0"/>
                    <a:pt x="654745" y="36769"/>
                    <a:pt x="654745" y="82125"/>
                  </a:cubicBezTo>
                  <a:close/>
                </a:path>
              </a:pathLst>
            </a:custGeom>
            <a:solidFill>
              <a:srgbClr val="FEFEFE">
                <a:alpha val="45882"/>
              </a:srgbClr>
            </a:solidFill>
            <a:ln w="38100" cap="rnd">
              <a:solidFill>
                <a:srgbClr val="9B6EFF">
                  <a:alpha val="45882"/>
                </a:srgbClr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654745" cy="562953"/>
            </a:xfrm>
            <a:prstGeom prst="rect">
              <a:avLst/>
            </a:prstGeom>
          </p:spPr>
          <p:txBody>
            <a:bodyPr lIns="57524" tIns="57524" rIns="57524" bIns="57524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587545" y="6254457"/>
            <a:ext cx="4671755" cy="3335021"/>
            <a:chOff x="0" y="0"/>
            <a:chExt cx="623990" cy="44547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3990" cy="445470"/>
            </a:xfrm>
            <a:custGeom>
              <a:avLst/>
              <a:gdLst/>
              <a:ahLst/>
              <a:cxnLst/>
              <a:rect l="l" t="t" r="r" b="b"/>
              <a:pathLst>
                <a:path w="623990" h="445470">
                  <a:moveTo>
                    <a:pt x="623990" y="86173"/>
                  </a:moveTo>
                  <a:lnTo>
                    <a:pt x="623990" y="359296"/>
                  </a:lnTo>
                  <a:cubicBezTo>
                    <a:pt x="623990" y="406888"/>
                    <a:pt x="585409" y="445470"/>
                    <a:pt x="537816" y="445470"/>
                  </a:cubicBezTo>
                  <a:lnTo>
                    <a:pt x="86173" y="445470"/>
                  </a:lnTo>
                  <a:cubicBezTo>
                    <a:pt x="38581" y="445470"/>
                    <a:pt x="0" y="406888"/>
                    <a:pt x="0" y="359296"/>
                  </a:cubicBezTo>
                  <a:lnTo>
                    <a:pt x="0" y="86173"/>
                  </a:lnTo>
                  <a:cubicBezTo>
                    <a:pt x="0" y="38581"/>
                    <a:pt x="38581" y="0"/>
                    <a:pt x="86173" y="0"/>
                  </a:cubicBezTo>
                  <a:lnTo>
                    <a:pt x="537816" y="0"/>
                  </a:lnTo>
                  <a:cubicBezTo>
                    <a:pt x="585409" y="0"/>
                    <a:pt x="623990" y="38581"/>
                    <a:pt x="623990" y="86173"/>
                  </a:cubicBezTo>
                  <a:close/>
                </a:path>
              </a:pathLst>
            </a:custGeom>
            <a:solidFill>
              <a:srgbClr val="FEFEFE">
                <a:alpha val="45882"/>
              </a:srgbClr>
            </a:solidFill>
            <a:ln w="38100" cap="rnd">
              <a:solidFill>
                <a:srgbClr val="9B6EFF">
                  <a:alpha val="45882"/>
                </a:srgbClr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623990" cy="550245"/>
            </a:xfrm>
            <a:prstGeom prst="rect">
              <a:avLst/>
            </a:prstGeom>
          </p:spPr>
          <p:txBody>
            <a:bodyPr lIns="57524" tIns="57524" rIns="57524" bIns="57524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393878" y="2587191"/>
            <a:ext cx="4517471" cy="2962416"/>
            <a:chOff x="0" y="0"/>
            <a:chExt cx="603382" cy="39569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3382" cy="395699"/>
            </a:xfrm>
            <a:custGeom>
              <a:avLst/>
              <a:gdLst/>
              <a:ahLst/>
              <a:cxnLst/>
              <a:rect l="l" t="t" r="r" b="b"/>
              <a:pathLst>
                <a:path w="603382" h="395699">
                  <a:moveTo>
                    <a:pt x="603382" y="89116"/>
                  </a:moveTo>
                  <a:lnTo>
                    <a:pt x="603382" y="306583"/>
                  </a:lnTo>
                  <a:cubicBezTo>
                    <a:pt x="603382" y="330218"/>
                    <a:pt x="593993" y="352885"/>
                    <a:pt x="577281" y="369598"/>
                  </a:cubicBezTo>
                  <a:cubicBezTo>
                    <a:pt x="560568" y="386310"/>
                    <a:pt x="537901" y="395699"/>
                    <a:pt x="514266" y="395699"/>
                  </a:cubicBezTo>
                  <a:lnTo>
                    <a:pt x="89116" y="395699"/>
                  </a:lnTo>
                  <a:cubicBezTo>
                    <a:pt x="65481" y="395699"/>
                    <a:pt x="42814" y="386310"/>
                    <a:pt x="26102" y="369598"/>
                  </a:cubicBezTo>
                  <a:cubicBezTo>
                    <a:pt x="9389" y="352885"/>
                    <a:pt x="0" y="330218"/>
                    <a:pt x="0" y="306583"/>
                  </a:cubicBezTo>
                  <a:lnTo>
                    <a:pt x="0" y="89116"/>
                  </a:lnTo>
                  <a:cubicBezTo>
                    <a:pt x="0" y="65481"/>
                    <a:pt x="9389" y="42814"/>
                    <a:pt x="26102" y="26102"/>
                  </a:cubicBezTo>
                  <a:cubicBezTo>
                    <a:pt x="42814" y="9389"/>
                    <a:pt x="65481" y="0"/>
                    <a:pt x="89116" y="0"/>
                  </a:cubicBezTo>
                  <a:lnTo>
                    <a:pt x="514266" y="0"/>
                  </a:lnTo>
                  <a:cubicBezTo>
                    <a:pt x="537901" y="0"/>
                    <a:pt x="560568" y="9389"/>
                    <a:pt x="577281" y="26102"/>
                  </a:cubicBezTo>
                  <a:cubicBezTo>
                    <a:pt x="593993" y="42814"/>
                    <a:pt x="603382" y="65481"/>
                    <a:pt x="603382" y="89116"/>
                  </a:cubicBezTo>
                  <a:close/>
                </a:path>
              </a:pathLst>
            </a:custGeom>
            <a:solidFill>
              <a:srgbClr val="FEFEFE">
                <a:alpha val="45882"/>
              </a:srgbClr>
            </a:solidFill>
            <a:ln w="38100" cap="rnd">
              <a:solidFill>
                <a:srgbClr val="9B6EFF">
                  <a:alpha val="45882"/>
                </a:srgbClr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104775"/>
              <a:ext cx="603382" cy="500474"/>
            </a:xfrm>
            <a:prstGeom prst="rect">
              <a:avLst/>
            </a:prstGeom>
          </p:spPr>
          <p:txBody>
            <a:bodyPr lIns="57524" tIns="57524" rIns="57524" bIns="57524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8" b="-8547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162542" y="3056993"/>
            <a:ext cx="1729255" cy="2086507"/>
          </a:xfrm>
          <a:custGeom>
            <a:avLst/>
            <a:gdLst/>
            <a:ahLst/>
            <a:cxnLst/>
            <a:rect l="l" t="t" r="r" b="b"/>
            <a:pathLst>
              <a:path w="1729255" h="2086507">
                <a:moveTo>
                  <a:pt x="0" y="0"/>
                </a:moveTo>
                <a:lnTo>
                  <a:pt x="1729254" y="0"/>
                </a:lnTo>
                <a:lnTo>
                  <a:pt x="1729254" y="2086507"/>
                </a:lnTo>
                <a:lnTo>
                  <a:pt x="0" y="2086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914078" y="2292757"/>
            <a:ext cx="1528471" cy="1528471"/>
          </a:xfrm>
          <a:custGeom>
            <a:avLst/>
            <a:gdLst/>
            <a:ahLst/>
            <a:cxnLst/>
            <a:rect l="l" t="t" r="r" b="b"/>
            <a:pathLst>
              <a:path w="1528471" h="1528471">
                <a:moveTo>
                  <a:pt x="0" y="0"/>
                </a:moveTo>
                <a:lnTo>
                  <a:pt x="1528472" y="0"/>
                </a:lnTo>
                <a:lnTo>
                  <a:pt x="1528472" y="1528471"/>
                </a:lnTo>
                <a:lnTo>
                  <a:pt x="0" y="1528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4581090" y="6772663"/>
            <a:ext cx="1747111" cy="1747111"/>
          </a:xfrm>
          <a:custGeom>
            <a:avLst/>
            <a:gdLst/>
            <a:ahLst/>
            <a:cxnLst/>
            <a:rect l="l" t="t" r="r" b="b"/>
            <a:pathLst>
              <a:path w="1747111" h="1747111">
                <a:moveTo>
                  <a:pt x="0" y="0"/>
                </a:moveTo>
                <a:lnTo>
                  <a:pt x="1747111" y="0"/>
                </a:lnTo>
                <a:lnTo>
                  <a:pt x="1747111" y="1747111"/>
                </a:lnTo>
                <a:lnTo>
                  <a:pt x="0" y="1747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720666" y="6184195"/>
            <a:ext cx="2820016" cy="2145963"/>
          </a:xfrm>
          <a:custGeom>
            <a:avLst/>
            <a:gdLst/>
            <a:ahLst/>
            <a:cxnLst/>
            <a:rect l="l" t="t" r="r" b="b"/>
            <a:pathLst>
              <a:path w="2820016" h="2145963">
                <a:moveTo>
                  <a:pt x="0" y="0"/>
                </a:moveTo>
                <a:lnTo>
                  <a:pt x="2820016" y="0"/>
                </a:lnTo>
                <a:lnTo>
                  <a:pt x="2820016" y="2145963"/>
                </a:lnTo>
                <a:lnTo>
                  <a:pt x="0" y="21459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7765" r="-45839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5264769" y="5660320"/>
            <a:ext cx="2177781" cy="2224687"/>
          </a:xfrm>
          <a:custGeom>
            <a:avLst/>
            <a:gdLst/>
            <a:ahLst/>
            <a:cxnLst/>
            <a:rect l="l" t="t" r="r" b="b"/>
            <a:pathLst>
              <a:path w="2177781" h="2224687">
                <a:moveTo>
                  <a:pt x="0" y="0"/>
                </a:moveTo>
                <a:lnTo>
                  <a:pt x="2177781" y="0"/>
                </a:lnTo>
                <a:lnTo>
                  <a:pt x="2177781" y="2224687"/>
                </a:lnTo>
                <a:lnTo>
                  <a:pt x="0" y="22246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045791" y="2458623"/>
            <a:ext cx="2098209" cy="1711443"/>
          </a:xfrm>
          <a:custGeom>
            <a:avLst/>
            <a:gdLst/>
            <a:ahLst/>
            <a:cxnLst/>
            <a:rect l="l" t="t" r="r" b="b"/>
            <a:pathLst>
              <a:path w="2098209" h="1711443">
                <a:moveTo>
                  <a:pt x="0" y="0"/>
                </a:moveTo>
                <a:lnTo>
                  <a:pt x="2098209" y="0"/>
                </a:lnTo>
                <a:lnTo>
                  <a:pt x="2098209" y="1711443"/>
                </a:lnTo>
                <a:lnTo>
                  <a:pt x="0" y="17114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3369" t="-106266" r="-151959" b="-116845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559656" y="735102"/>
            <a:ext cx="11221568" cy="1760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5499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Dashboard Components</a:t>
            </a:r>
          </a:p>
          <a:p>
            <a:pPr algn="ctr">
              <a:lnSpc>
                <a:spcPts val="7316"/>
              </a:lnSpc>
            </a:pPr>
            <a:endParaRPr lang="en-US" sz="5499" b="1">
              <a:solidFill>
                <a:srgbClr val="02044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631536" y="1553394"/>
            <a:ext cx="7605236" cy="34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Exploring the essential elements of our executive dashboard.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91739" y="2929022"/>
            <a:ext cx="3178702" cy="2443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2044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79" b="1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Occupancy &amp; Revenue Analysis</a:t>
            </a:r>
          </a:p>
          <a:p>
            <a:pPr algn="ctr">
              <a:lnSpc>
                <a:spcPts val="2911"/>
              </a:lnSpc>
              <a:spcBef>
                <a:spcPct val="0"/>
              </a:spcBef>
            </a:pPr>
            <a:endParaRPr lang="en-US" sz="2079" b="1">
              <a:solidFill>
                <a:srgbClr val="02044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Tracks Occupancy, ADR, and RevPAR to evaluate room utilization and revenue efficiency.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92798" y="2836880"/>
            <a:ext cx="2927746" cy="242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1"/>
              </a:lnSpc>
              <a:spcBef>
                <a:spcPct val="0"/>
              </a:spcBef>
            </a:pPr>
            <a:r>
              <a:rPr lang="en-US" sz="2079" b="1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Guest Analysis</a:t>
            </a:r>
          </a:p>
          <a:p>
            <a:pPr algn="ctr">
              <a:lnSpc>
                <a:spcPts val="2911"/>
              </a:lnSpc>
              <a:spcBef>
                <a:spcPct val="0"/>
              </a:spcBef>
            </a:pPr>
            <a:endParaRPr lang="en-US" sz="2079" b="1">
              <a:solidFill>
                <a:srgbClr val="02044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Profiles demographics, loyalty, and booking sources to understand customer behavior.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587545" y="2847286"/>
            <a:ext cx="3982461" cy="173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1"/>
              </a:lnSpc>
              <a:spcBef>
                <a:spcPct val="0"/>
              </a:spcBef>
            </a:pPr>
            <a:r>
              <a:rPr lang="en-US" sz="2079" b="1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Forecast</a:t>
            </a:r>
          </a:p>
          <a:p>
            <a:pPr algn="ctr">
              <a:lnSpc>
                <a:spcPts val="2911"/>
              </a:lnSpc>
              <a:spcBef>
                <a:spcPct val="0"/>
              </a:spcBef>
            </a:pPr>
            <a:endParaRPr lang="en-US" sz="2079" b="1">
              <a:solidFill>
                <a:srgbClr val="02044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Predicts future demand via time-series modeling to guide pricing and staffing decisions.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13360" y="6385596"/>
            <a:ext cx="2867729" cy="278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1"/>
              </a:lnSpc>
              <a:spcBef>
                <a:spcPct val="0"/>
              </a:spcBef>
            </a:pPr>
            <a:r>
              <a:rPr lang="en-US" sz="2079" b="1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Pricing &amp; ADR Analysis</a:t>
            </a:r>
          </a:p>
          <a:p>
            <a:pPr algn="ctr">
              <a:lnSpc>
                <a:spcPts val="2911"/>
              </a:lnSpc>
              <a:spcBef>
                <a:spcPct val="0"/>
              </a:spcBef>
            </a:pPr>
            <a:endParaRPr lang="en-US" sz="2079" b="1">
              <a:solidFill>
                <a:srgbClr val="02044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Evaluates pricing trends across seasons and segments to optimize revenue strategy.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967911" y="6347549"/>
            <a:ext cx="2654480" cy="252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8"/>
              </a:lnSpc>
              <a:spcBef>
                <a:spcPct val="0"/>
              </a:spcBef>
            </a:pPr>
            <a:r>
              <a:rPr lang="en-US" sz="2162" b="1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Strategy Analysis</a:t>
            </a:r>
          </a:p>
          <a:p>
            <a:pPr algn="ctr">
              <a:lnSpc>
                <a:spcPts val="3028"/>
              </a:lnSpc>
              <a:spcBef>
                <a:spcPct val="0"/>
              </a:spcBef>
            </a:pPr>
            <a:endParaRPr lang="en-US" sz="2162" b="1">
              <a:solidFill>
                <a:srgbClr val="02044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sz="2058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Identifies </a:t>
            </a:r>
          </a:p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sz="2058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upsell opportunities and segment profitability to drive sustainable growth.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789180" y="6518999"/>
            <a:ext cx="2603220" cy="2587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8"/>
              </a:lnSpc>
              <a:spcBef>
                <a:spcPct val="0"/>
              </a:spcBef>
            </a:pPr>
            <a:r>
              <a:rPr lang="en-US" sz="1877" b="1" dirty="0">
                <a:solidFill>
                  <a:srgbClr val="020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Booking &amp; Cancellation Analysis</a:t>
            </a:r>
          </a:p>
          <a:p>
            <a:pPr algn="ctr">
              <a:lnSpc>
                <a:spcPts val="2628"/>
              </a:lnSpc>
              <a:spcBef>
                <a:spcPct val="0"/>
              </a:spcBef>
            </a:pPr>
            <a:endParaRPr lang="en-US" sz="1877" b="1" dirty="0">
              <a:solidFill>
                <a:srgbClr val="02044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502"/>
              </a:lnSpc>
              <a:spcBef>
                <a:spcPct val="0"/>
              </a:spcBef>
            </a:pPr>
            <a:r>
              <a:rPr lang="en-US" sz="1787" dirty="0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Monitors booking patterns and cancellations to stabilize demand and minimize loss.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499800">
            <a:off x="5874358" y="-2285777"/>
            <a:ext cx="13007369" cy="17011459"/>
            <a:chOff x="0" y="0"/>
            <a:chExt cx="4880610" cy="6383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gradFill rotWithShape="1">
              <a:gsLst>
                <a:gs pos="0">
                  <a:srgbClr val="9754F6">
                    <a:alpha val="10000"/>
                  </a:srgbClr>
                </a:gs>
                <a:gs pos="100000">
                  <a:srgbClr val="FEDAF3">
                    <a:alpha val="1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4589019" y="6698491"/>
            <a:ext cx="1861146" cy="18611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56931" y="3031321"/>
            <a:ext cx="1861146" cy="186114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363589" y="847286"/>
            <a:ext cx="9560821" cy="139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4"/>
              </a:lnSpc>
            </a:pPr>
            <a:r>
              <a:rPr lang="en-US" sz="4920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Conclusion &amp; Future Scope</a:t>
            </a:r>
          </a:p>
          <a:p>
            <a:pPr algn="ctr">
              <a:lnSpc>
                <a:spcPts val="5314"/>
              </a:lnSpc>
            </a:pPr>
            <a:endParaRPr lang="en-US" sz="4920" b="1">
              <a:solidFill>
                <a:srgbClr val="02044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3773312" y="2300606"/>
            <a:ext cx="5144826" cy="6259031"/>
            <a:chOff x="0" y="0"/>
            <a:chExt cx="6859768" cy="8345375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6859768" cy="8345375"/>
              <a:chOff x="0" y="0"/>
              <a:chExt cx="1118732" cy="136101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118732" cy="1361013"/>
              </a:xfrm>
              <a:custGeom>
                <a:avLst/>
                <a:gdLst/>
                <a:ahLst/>
                <a:cxnLst/>
                <a:rect l="l" t="t" r="r" b="b"/>
                <a:pathLst>
                  <a:path w="1118732" h="1361013">
                    <a:moveTo>
                      <a:pt x="559366" y="0"/>
                    </a:moveTo>
                    <a:cubicBezTo>
                      <a:pt x="250437" y="0"/>
                      <a:pt x="0" y="304673"/>
                      <a:pt x="0" y="680507"/>
                    </a:cubicBezTo>
                    <a:cubicBezTo>
                      <a:pt x="0" y="1056340"/>
                      <a:pt x="250437" y="1361013"/>
                      <a:pt x="559366" y="1361013"/>
                    </a:cubicBezTo>
                    <a:cubicBezTo>
                      <a:pt x="868295" y="1361013"/>
                      <a:pt x="1118732" y="1056340"/>
                      <a:pt x="1118732" y="680507"/>
                    </a:cubicBezTo>
                    <a:cubicBezTo>
                      <a:pt x="1118732" y="304673"/>
                      <a:pt x="868295" y="0"/>
                      <a:pt x="559366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4881" y="22820"/>
                <a:ext cx="908969" cy="12105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6859768" cy="8345375"/>
              <a:chOff x="0" y="0"/>
              <a:chExt cx="1118732" cy="136101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18732" cy="1361013"/>
              </a:xfrm>
              <a:custGeom>
                <a:avLst/>
                <a:gdLst/>
                <a:ahLst/>
                <a:cxnLst/>
                <a:rect l="l" t="t" r="r" b="b"/>
                <a:pathLst>
                  <a:path w="1118732" h="1361013">
                    <a:moveTo>
                      <a:pt x="559366" y="0"/>
                    </a:moveTo>
                    <a:cubicBezTo>
                      <a:pt x="250437" y="0"/>
                      <a:pt x="0" y="304673"/>
                      <a:pt x="0" y="680507"/>
                    </a:cubicBezTo>
                    <a:cubicBezTo>
                      <a:pt x="0" y="1056340"/>
                      <a:pt x="250437" y="1361013"/>
                      <a:pt x="559366" y="1361013"/>
                    </a:cubicBezTo>
                    <a:cubicBezTo>
                      <a:pt x="868295" y="1361013"/>
                      <a:pt x="1118732" y="1056340"/>
                      <a:pt x="1118732" y="680507"/>
                    </a:cubicBezTo>
                    <a:cubicBezTo>
                      <a:pt x="1118732" y="304673"/>
                      <a:pt x="868295" y="0"/>
                      <a:pt x="559366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4881" y="22820"/>
                <a:ext cx="908969" cy="12105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0374766" y="2246768"/>
            <a:ext cx="5144826" cy="6259031"/>
            <a:chOff x="0" y="0"/>
            <a:chExt cx="6859768" cy="8345375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859768" cy="8345375"/>
              <a:chOff x="0" y="0"/>
              <a:chExt cx="1118732" cy="13610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18732" cy="1361013"/>
              </a:xfrm>
              <a:custGeom>
                <a:avLst/>
                <a:gdLst/>
                <a:ahLst/>
                <a:cxnLst/>
                <a:rect l="l" t="t" r="r" b="b"/>
                <a:pathLst>
                  <a:path w="1118732" h="1361013">
                    <a:moveTo>
                      <a:pt x="559366" y="0"/>
                    </a:moveTo>
                    <a:cubicBezTo>
                      <a:pt x="250437" y="0"/>
                      <a:pt x="0" y="304673"/>
                      <a:pt x="0" y="680507"/>
                    </a:cubicBezTo>
                    <a:cubicBezTo>
                      <a:pt x="0" y="1056340"/>
                      <a:pt x="250437" y="1361013"/>
                      <a:pt x="559366" y="1361013"/>
                    </a:cubicBezTo>
                    <a:cubicBezTo>
                      <a:pt x="868295" y="1361013"/>
                      <a:pt x="1118732" y="1056340"/>
                      <a:pt x="1118732" y="680507"/>
                    </a:cubicBezTo>
                    <a:cubicBezTo>
                      <a:pt x="1118732" y="304673"/>
                      <a:pt x="868295" y="0"/>
                      <a:pt x="559366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4881" y="22820"/>
                <a:ext cx="908969" cy="12105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0" y="0"/>
              <a:ext cx="6859768" cy="8345375"/>
              <a:chOff x="0" y="0"/>
              <a:chExt cx="1118732" cy="136101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118732" cy="1361013"/>
              </a:xfrm>
              <a:custGeom>
                <a:avLst/>
                <a:gdLst/>
                <a:ahLst/>
                <a:cxnLst/>
                <a:rect l="l" t="t" r="r" b="b"/>
                <a:pathLst>
                  <a:path w="1118732" h="1361013">
                    <a:moveTo>
                      <a:pt x="559366" y="0"/>
                    </a:moveTo>
                    <a:cubicBezTo>
                      <a:pt x="250437" y="0"/>
                      <a:pt x="0" y="304673"/>
                      <a:pt x="0" y="680507"/>
                    </a:cubicBezTo>
                    <a:cubicBezTo>
                      <a:pt x="0" y="1056340"/>
                      <a:pt x="250437" y="1361013"/>
                      <a:pt x="559366" y="1361013"/>
                    </a:cubicBezTo>
                    <a:cubicBezTo>
                      <a:pt x="868295" y="1361013"/>
                      <a:pt x="1118732" y="1056340"/>
                      <a:pt x="1118732" y="680507"/>
                    </a:cubicBezTo>
                    <a:cubicBezTo>
                      <a:pt x="1118732" y="304673"/>
                      <a:pt x="868295" y="0"/>
                      <a:pt x="559366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4881" y="22820"/>
                <a:ext cx="908969" cy="12105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4502380" y="2759321"/>
            <a:ext cx="3686690" cy="5157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43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39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  <a:p>
            <a:pPr algn="ctr">
              <a:lnSpc>
                <a:spcPts val="3415"/>
              </a:lnSpc>
            </a:pPr>
            <a:endParaRPr lang="en-US" sz="2439" b="1">
              <a:solidFill>
                <a:srgbClr val="02044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415"/>
              </a:lnSpc>
              <a:spcBef>
                <a:spcPct val="0"/>
              </a:spcBef>
            </a:pPr>
            <a:r>
              <a:rPr lang="en-US" sz="2439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The project transformed raw hotel data into actionable insights using Power BI and forecasting techniques. It enables better pricing decisions, performance tracking, and strategic revenue planning.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71136" y="2955121"/>
            <a:ext cx="3752086" cy="430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1"/>
              </a:lnSpc>
              <a:spcBef>
                <a:spcPct val="0"/>
              </a:spcBef>
            </a:pPr>
            <a:r>
              <a:rPr lang="en-US" sz="2436" b="1">
                <a:solidFill>
                  <a:srgbClr val="02044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</a:t>
            </a:r>
          </a:p>
          <a:p>
            <a:pPr algn="ctr">
              <a:lnSpc>
                <a:spcPts val="3411"/>
              </a:lnSpc>
              <a:spcBef>
                <a:spcPct val="0"/>
              </a:spcBef>
            </a:pPr>
            <a:endParaRPr lang="en-US" sz="2436" b="1">
              <a:solidFill>
                <a:srgbClr val="02044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411"/>
              </a:lnSpc>
              <a:spcBef>
                <a:spcPct val="0"/>
              </a:spcBef>
            </a:pPr>
            <a:r>
              <a:rPr lang="en-US" sz="2436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The system can be enhanced with AI-based dynamic pricing, advanced cancellation prediction models, and real-time data integration for smarter decision-making.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8" b="-8547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F">
                <a:alpha val="100000"/>
              </a:srgbClr>
            </a:gs>
            <a:gs pos="100000">
              <a:srgbClr val="E2D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0" y="5555992"/>
            <a:ext cx="7137497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20440"/>
                </a:solidFill>
                <a:latin typeface="Poppins"/>
                <a:ea typeface="Poppins"/>
                <a:cs typeface="Poppins"/>
                <a:sym typeface="Poppins"/>
              </a:rPr>
              <a:t>Thank you for your ongoing support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52966" y="1028700"/>
            <a:ext cx="6292549" cy="8229600"/>
            <a:chOff x="0" y="0"/>
            <a:chExt cx="4880610" cy="6383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solidFill>
              <a:srgbClr val="715AC8"/>
            </a:solidFill>
            <a:ln w="28575" cap="sq">
              <a:gradFill>
                <a:gsLst>
                  <a:gs pos="0">
                    <a:srgbClr val="9754F6">
                      <a:alpha val="100000"/>
                    </a:srgbClr>
                  </a:gs>
                  <a:gs pos="100000">
                    <a:srgbClr val="FEDAF3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5095071" y="1040476"/>
            <a:ext cx="2165210" cy="216521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E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81497" y="-575589"/>
            <a:ext cx="2510259" cy="251025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5A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94523" y="7560548"/>
            <a:ext cx="1570469" cy="157046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E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945653" y="7223501"/>
            <a:ext cx="6464046" cy="6464046"/>
            <a:chOff x="0" y="0"/>
            <a:chExt cx="8618728" cy="8618728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515070" y="-3651637"/>
            <a:ext cx="6464046" cy="6464046"/>
            <a:chOff x="0" y="0"/>
            <a:chExt cx="8618728" cy="8618728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8927005" y="3619463"/>
            <a:ext cx="7137497" cy="1251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 b="1">
                <a:solidFill>
                  <a:srgbClr val="0204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</a:t>
            </a:r>
          </a:p>
        </p:txBody>
      </p:sp>
      <p:sp>
        <p:nvSpPr>
          <p:cNvPr id="29" name="Freeform 29"/>
          <p:cNvSpPr/>
          <p:nvPr/>
        </p:nvSpPr>
        <p:spPr>
          <a:xfrm>
            <a:off x="16597099" y="9258300"/>
            <a:ext cx="1690901" cy="924900"/>
          </a:xfrm>
          <a:custGeom>
            <a:avLst/>
            <a:gdLst/>
            <a:ahLst/>
            <a:cxnLst/>
            <a:rect l="l" t="t" r="r" b="b"/>
            <a:pathLst>
              <a:path w="1690901" h="924900">
                <a:moveTo>
                  <a:pt x="0" y="0"/>
                </a:moveTo>
                <a:lnTo>
                  <a:pt x="1690901" y="0"/>
                </a:lnTo>
                <a:lnTo>
                  <a:pt x="1690901" y="924900"/>
                </a:lnTo>
                <a:lnTo>
                  <a:pt x="0" y="924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8" b="-8547"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7167322" y="368389"/>
            <a:ext cx="6464046" cy="6464046"/>
            <a:chOff x="0" y="0"/>
            <a:chExt cx="8618728" cy="8618728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E">
                  <a:alpha val="45882"/>
                </a:srgbClr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0"/>
              <a:ext cx="8618728" cy="8618728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01"/>
                  </a:lnSpc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722</Words>
  <Application>Microsoft Office PowerPoint</Application>
  <PresentationFormat>Custom</PresentationFormat>
  <Paragraphs>163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Canva Sans Bold</vt:lpstr>
      <vt:lpstr>Calibri</vt:lpstr>
      <vt:lpstr>Arial</vt:lpstr>
      <vt:lpstr>Canva Sans</vt:lpstr>
      <vt:lpstr>Poppins</vt:lpstr>
      <vt:lpstr>Poppins Semi-Bold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Revenue Analysis Group Project</dc:title>
  <cp:lastModifiedBy>Bindu Sri</cp:lastModifiedBy>
  <cp:revision>3</cp:revision>
  <dcterms:created xsi:type="dcterms:W3CDTF">2006-08-16T00:00:00Z</dcterms:created>
  <dcterms:modified xsi:type="dcterms:W3CDTF">2026-03-04T15:44:27Z</dcterms:modified>
  <dc:identifier>DAHBN5vzcTA</dc:identifier>
</cp:coreProperties>
</file>